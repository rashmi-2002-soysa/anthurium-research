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82" r:id="rId2"/>
  </p:sldMasterIdLst>
  <p:notesMasterIdLst>
    <p:notesMasterId r:id="rId27"/>
  </p:notesMasterIdLst>
  <p:handoutMasterIdLst>
    <p:handoutMasterId r:id="rId28"/>
  </p:handoutMasterIdLst>
  <p:sldIdLst>
    <p:sldId id="301" r:id="rId3"/>
    <p:sldId id="302" r:id="rId4"/>
    <p:sldId id="322" r:id="rId5"/>
    <p:sldId id="323" r:id="rId6"/>
    <p:sldId id="324" r:id="rId7"/>
    <p:sldId id="325" r:id="rId8"/>
    <p:sldId id="326" r:id="rId9"/>
    <p:sldId id="303" r:id="rId10"/>
    <p:sldId id="337" r:id="rId11"/>
    <p:sldId id="307" r:id="rId12"/>
    <p:sldId id="336" r:id="rId13"/>
    <p:sldId id="338" r:id="rId14"/>
    <p:sldId id="339" r:id="rId15"/>
    <p:sldId id="340" r:id="rId16"/>
    <p:sldId id="341" r:id="rId17"/>
    <p:sldId id="327" r:id="rId18"/>
    <p:sldId id="328" r:id="rId19"/>
    <p:sldId id="329" r:id="rId20"/>
    <p:sldId id="330" r:id="rId21"/>
    <p:sldId id="331" r:id="rId22"/>
    <p:sldId id="332" r:id="rId23"/>
    <p:sldId id="333" r:id="rId24"/>
    <p:sldId id="334" r:id="rId25"/>
    <p:sldId id="31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985" autoAdjust="0"/>
    <p:restoredTop sz="94660"/>
  </p:normalViewPr>
  <p:slideViewPr>
    <p:cSldViewPr>
      <p:cViewPr varScale="1">
        <p:scale>
          <a:sx n="70" d="100"/>
          <a:sy n="70" d="100"/>
        </p:scale>
        <p:origin x="252" y="48"/>
      </p:cViewPr>
      <p:guideLst>
        <p:guide orient="horz" pos="2160"/>
        <p:guide pos="3840"/>
      </p:guideLst>
    </p:cSldViewPr>
  </p:slideViewPr>
  <p:notesTextViewPr>
    <p:cViewPr>
      <p:scale>
        <a:sx n="1" d="1"/>
        <a:sy n="1" d="1"/>
      </p:scale>
      <p:origin x="0" y="0"/>
    </p:cViewPr>
  </p:notesTextViewPr>
  <p:notesViewPr>
    <p:cSldViewPr>
      <p:cViewPr varScale="1">
        <p:scale>
          <a:sx n="69" d="100"/>
          <a:sy n="69" d="100"/>
        </p:scale>
        <p:origin x="2568" y="3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9BAAE38-79BE-4082-9A4D-2BEC47341C04}" type="datetimeFigureOut">
              <a:rPr lang="en-US" smtClean="0"/>
              <a:t>3/9/2026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9F15613-D24F-46B4-9010-BD7B318E3C30}" type="slidenum">
              <a:rPr lang="en-US" smtClean="0"/>
              <a:t>‹#›</a:t>
            </a:fld>
            <a:endParaRPr lang="en-US"/>
          </a:p>
        </p:txBody>
      </p:sp>
    </p:spTree>
    <p:extLst>
      <p:ext uri="{BB962C8B-B14F-4D97-AF65-F5344CB8AC3E}">
        <p14:creationId xmlns:p14="http://schemas.microsoft.com/office/powerpoint/2010/main" val="28640503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5BCF22-2D75-4779-9C8B-6270AA3FA919}" type="datetimeFigureOut">
              <a:rPr lang="en-US" smtClean="0"/>
              <a:t>3/9/2026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0B8AC8-E212-48B2-9917-7448FC83DD17}" type="slidenum">
              <a:rPr lang="en-US" smtClean="0"/>
              <a:t>‹#›</a:t>
            </a:fld>
            <a:endParaRPr lang="en-US"/>
          </a:p>
        </p:txBody>
      </p:sp>
    </p:spTree>
    <p:extLst>
      <p:ext uri="{BB962C8B-B14F-4D97-AF65-F5344CB8AC3E}">
        <p14:creationId xmlns:p14="http://schemas.microsoft.com/office/powerpoint/2010/main" val="1786590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Project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762000"/>
            <a:ext cx="10363200" cy="1470025"/>
          </a:xfrm>
        </p:spPr>
        <p:txBody>
          <a:bodyPr/>
          <a:lstStyle>
            <a:lvl1pPr>
              <a:defRPr/>
            </a:lvl1pPr>
          </a:lstStyle>
          <a:p>
            <a:r>
              <a:rPr lang="en-US" dirty="0"/>
              <a:t>Add the Project Title</a:t>
            </a:r>
          </a:p>
        </p:txBody>
      </p:sp>
      <p:sp>
        <p:nvSpPr>
          <p:cNvPr id="3" name="Subtitle 2"/>
          <p:cNvSpPr>
            <a:spLocks noGrp="1"/>
          </p:cNvSpPr>
          <p:nvPr>
            <p:ph type="subTitle" idx="1" hasCustomPrompt="1"/>
          </p:nvPr>
        </p:nvSpPr>
        <p:spPr>
          <a:xfrm>
            <a:off x="1828800" y="25146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Project ID</a:t>
            </a:r>
          </a:p>
        </p:txBody>
      </p:sp>
      <p:pic>
        <p:nvPicPr>
          <p:cNvPr id="20" name="Picture 19" descr="A picture containing photo, table, person, monitor&#10;&#10;Description automatically generated">
            <a:extLst>
              <a:ext uri="{FF2B5EF4-FFF2-40B4-BE49-F238E27FC236}">
                <a16:creationId xmlns:a16="http://schemas.microsoft.com/office/drawing/2014/main" id="{C4A8CD1C-223D-4C87-9519-FDBD49BC597A}"/>
              </a:ext>
            </a:extLst>
          </p:cNvPr>
          <p:cNvPicPr>
            <a:picLocks noChangeAspect="1"/>
          </p:cNvPicPr>
          <p:nvPr userDrawn="1"/>
        </p:nvPicPr>
        <p:blipFill rotWithShape="1">
          <a:blip r:embed="rId2"/>
          <a:srcRect t="90286" r="71976"/>
          <a:stretch/>
        </p:blipFill>
        <p:spPr>
          <a:xfrm>
            <a:off x="0" y="6373302"/>
            <a:ext cx="2514600" cy="490308"/>
          </a:xfrm>
          <a:prstGeom prst="rect">
            <a:avLst/>
          </a:prstGeom>
        </p:spPr>
      </p:pic>
    </p:spTree>
    <p:extLst>
      <p:ext uri="{BB962C8B-B14F-4D97-AF65-F5344CB8AC3E}">
        <p14:creationId xmlns:p14="http://schemas.microsoft.com/office/powerpoint/2010/main" val="856449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pic>
        <p:nvPicPr>
          <p:cNvPr id="20" name="Picture 19" descr="A picture containing photo, table, person, monitor&#10;&#10;Description automatically generated">
            <a:extLst>
              <a:ext uri="{FF2B5EF4-FFF2-40B4-BE49-F238E27FC236}">
                <a16:creationId xmlns:a16="http://schemas.microsoft.com/office/drawing/2014/main" id="{C4A8CD1C-223D-4C87-9519-FDBD49BC597A}"/>
              </a:ext>
            </a:extLst>
          </p:cNvPr>
          <p:cNvPicPr>
            <a:picLocks noChangeAspect="1"/>
          </p:cNvPicPr>
          <p:nvPr userDrawn="1"/>
        </p:nvPicPr>
        <p:blipFill rotWithShape="1">
          <a:blip r:embed="rId2"/>
          <a:srcRect t="90286" r="71976"/>
          <a:stretch/>
        </p:blipFill>
        <p:spPr>
          <a:xfrm>
            <a:off x="0" y="6373302"/>
            <a:ext cx="2514600" cy="490308"/>
          </a:xfrm>
          <a:prstGeom prst="rect">
            <a:avLst/>
          </a:prstGeom>
        </p:spPr>
      </p:pic>
    </p:spTree>
    <p:extLst>
      <p:ext uri="{BB962C8B-B14F-4D97-AF65-F5344CB8AC3E}">
        <p14:creationId xmlns:p14="http://schemas.microsoft.com/office/powerpoint/2010/main" val="2447088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Individual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二等辺三角形 9"/>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dirty="0"/>
          </a:p>
        </p:txBody>
      </p:sp>
      <p:sp>
        <p:nvSpPr>
          <p:cNvPr id="13"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11888911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verall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202388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2837087"/>
            <a:ext cx="10363200" cy="1362075"/>
          </a:xfrm>
        </p:spPr>
        <p:txBody>
          <a:bodyPr anchor="t"/>
          <a:lstStyle>
            <a:lvl1pPr algn="l">
              <a:defRPr sz="4000" b="1" cap="all"/>
            </a:lvl1pPr>
          </a:lstStyle>
          <a:p>
            <a:r>
              <a:rPr lang="en-US" dirty="0"/>
              <a:t>Section Title</a:t>
            </a:r>
          </a:p>
        </p:txBody>
      </p:sp>
      <p:sp>
        <p:nvSpPr>
          <p:cNvPr id="3" name="Text Placeholder 2"/>
          <p:cNvSpPr>
            <a:spLocks noGrp="1"/>
          </p:cNvSpPr>
          <p:nvPr>
            <p:ph type="body" idx="1" hasCustomPrompt="1"/>
          </p:nvPr>
        </p:nvSpPr>
        <p:spPr>
          <a:xfrm>
            <a:off x="963084" y="4237261"/>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Section Sub-Titles</a:t>
            </a:r>
          </a:p>
        </p:txBody>
      </p:sp>
      <p:sp>
        <p:nvSpPr>
          <p:cNvPr id="19" name="Rectangle 18">
            <a:extLst>
              <a:ext uri="{FF2B5EF4-FFF2-40B4-BE49-F238E27FC236}">
                <a16:creationId xmlns:a16="http://schemas.microsoft.com/office/drawing/2014/main" id="{77C29E58-4878-471A-A8CF-FA8607A4052E}"/>
              </a:ext>
            </a:extLst>
          </p:cNvPr>
          <p:cNvSpPr/>
          <p:nvPr userDrawn="1"/>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ITXXXXXXXX</a:t>
            </a:r>
            <a:r>
              <a:rPr lang="en-US" sz="1800" dirty="0">
                <a:solidFill>
                  <a:schemeClr val="tx1"/>
                </a:solidFill>
              </a:rPr>
              <a:t>   |   &lt;</a:t>
            </a:r>
            <a:r>
              <a:rPr lang="en-US" sz="1800" b="1" dirty="0">
                <a:solidFill>
                  <a:schemeClr val="tx1"/>
                </a:solidFill>
              </a:rPr>
              <a:t>&lt;Student Name&gt;&gt;   </a:t>
            </a:r>
            <a:r>
              <a:rPr lang="en-US" sz="1800" dirty="0">
                <a:solidFill>
                  <a:schemeClr val="tx1"/>
                </a:solidFill>
              </a:rPr>
              <a:t>|   </a:t>
            </a:r>
            <a:r>
              <a:rPr lang="en-US" sz="1800" b="0" dirty="0">
                <a:solidFill>
                  <a:schemeClr val="tx1"/>
                </a:solidFill>
              </a:rPr>
              <a:t>&lt;&lt;Project ID&gt;&gt;</a:t>
            </a:r>
          </a:p>
        </p:txBody>
      </p:sp>
    </p:spTree>
    <p:extLst>
      <p:ext uri="{BB962C8B-B14F-4D97-AF65-F5344CB8AC3E}">
        <p14:creationId xmlns:p14="http://schemas.microsoft.com/office/powerpoint/2010/main" val="3293331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tudent Information Sec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2837087"/>
            <a:ext cx="10363200" cy="1362075"/>
          </a:xfrm>
        </p:spPr>
        <p:txBody>
          <a:bodyPr anchor="t"/>
          <a:lstStyle>
            <a:lvl1pPr algn="l">
              <a:defRPr sz="4000" b="1" cap="all"/>
            </a:lvl1pPr>
          </a:lstStyle>
          <a:p>
            <a:r>
              <a:rPr lang="en-US" dirty="0"/>
              <a:t>Student IT Number | Student Name</a:t>
            </a:r>
          </a:p>
        </p:txBody>
      </p:sp>
      <p:sp>
        <p:nvSpPr>
          <p:cNvPr id="3" name="Text Placeholder 2"/>
          <p:cNvSpPr>
            <a:spLocks noGrp="1"/>
          </p:cNvSpPr>
          <p:nvPr>
            <p:ph type="body" idx="1" hasCustomPrompt="1"/>
          </p:nvPr>
        </p:nvSpPr>
        <p:spPr>
          <a:xfrm>
            <a:off x="963084" y="4237261"/>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Student’s Specialization</a:t>
            </a:r>
          </a:p>
        </p:txBody>
      </p:sp>
      <p:sp>
        <p:nvSpPr>
          <p:cNvPr id="13"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4" name="Rectangle 3">
            <a:extLst>
              <a:ext uri="{FF2B5EF4-FFF2-40B4-BE49-F238E27FC236}">
                <a16:creationId xmlns:a16="http://schemas.microsoft.com/office/drawing/2014/main" id="{0A8789F7-2DE1-4BD0-98A0-4D627E8C7924}"/>
              </a:ext>
            </a:extLst>
          </p:cNvPr>
          <p:cNvSpPr/>
          <p:nvPr userDrawn="1"/>
        </p:nvSpPr>
        <p:spPr>
          <a:xfrm>
            <a:off x="10134600" y="152400"/>
            <a:ext cx="1981200" cy="2286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Student Must add a professional photo to this cage</a:t>
            </a:r>
          </a:p>
        </p:txBody>
      </p:sp>
    </p:spTree>
    <p:extLst>
      <p:ext uri="{BB962C8B-B14F-4D97-AF65-F5344CB8AC3E}">
        <p14:creationId xmlns:p14="http://schemas.microsoft.com/office/powerpoint/2010/main" val="2008593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303586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7086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650893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 name="二等辺三角形 9"/>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1"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2" name="Slide Number Placeholder 5">
            <a:extLst>
              <a:ext uri="{FF2B5EF4-FFF2-40B4-BE49-F238E27FC236}">
                <a16:creationId xmlns:a16="http://schemas.microsoft.com/office/drawing/2014/main" id="{A75490AD-C6C9-4021-8C34-1F6444AB48BF}"/>
              </a:ext>
            </a:extLst>
          </p:cNvPr>
          <p:cNvSpPr txBox="1">
            <a:spLocks/>
          </p:cNvSpPr>
          <p:nvPr userDrawn="1"/>
        </p:nvSpPr>
        <p:spPr>
          <a:xfrm>
            <a:off x="11435142" y="6492875"/>
            <a:ext cx="680658" cy="365125"/>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7D6051F-EF20-4D26-A49B-A9D5F0B34CE8}" type="slidenum">
              <a:rPr lang="en-US" smtClean="0"/>
              <a:pPr/>
              <a:t>‹#›</a:t>
            </a:fld>
            <a:endParaRPr lang="en-US" dirty="0"/>
          </a:p>
        </p:txBody>
      </p:sp>
    </p:spTree>
    <p:extLst>
      <p:ext uri="{BB962C8B-B14F-4D97-AF65-F5344CB8AC3E}">
        <p14:creationId xmlns:p14="http://schemas.microsoft.com/office/powerpoint/2010/main" val="3352222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二等辺三角形 11"/>
          <p:cNvSpPr/>
          <p:nvPr userDrawn="1"/>
        </p:nvSpPr>
        <p:spPr>
          <a:xfrm>
            <a:off x="0" y="6406010"/>
            <a:ext cx="12192000" cy="452885"/>
          </a:xfrm>
          <a:prstGeom prst="triangle">
            <a:avLst>
              <a:gd name="adj" fmla="val 85448"/>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3" name="二等辺三角形 9"/>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4"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557430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7524049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36120786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二等辺三角形 9"/>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3"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33108502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96825530"/>
      </p:ext>
    </p:extLst>
  </p:cSld>
  <p:clrMapOvr>
    <a:masterClrMapping/>
  </p:clrMapOvr>
  <p:hf hdr="0" ftr="0"/>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2656536"/>
      </p:ext>
    </p:extLst>
  </p:cSld>
  <p:clrMapOvr>
    <a:masterClrMapping/>
  </p:clrMapOvr>
  <p:hf hdr="0" ftr="0"/>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
        <p:nvSpPr>
          <p:cNvPr id="7" name="Rectangle 6">
            <a:extLst>
              <a:ext uri="{FF2B5EF4-FFF2-40B4-BE49-F238E27FC236}">
                <a16:creationId xmlns:a16="http://schemas.microsoft.com/office/drawing/2014/main" id="{EB5471AD-BB32-5131-8D1C-18BACBB22F78}"/>
              </a:ext>
            </a:extLst>
          </p:cNvPr>
          <p:cNvSpPr/>
          <p:nvPr userDrawn="1"/>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ITXXXXXXXX</a:t>
            </a:r>
            <a:r>
              <a:rPr lang="en-US" sz="1800" dirty="0">
                <a:solidFill>
                  <a:schemeClr val="tx1"/>
                </a:solidFill>
              </a:rPr>
              <a:t>   |   &lt;</a:t>
            </a:r>
            <a:r>
              <a:rPr lang="en-US" sz="1800" b="1" dirty="0">
                <a:solidFill>
                  <a:schemeClr val="tx1"/>
                </a:solidFill>
              </a:rPr>
              <a:t>&lt;Student Name&gt;&gt;   </a:t>
            </a:r>
            <a:r>
              <a:rPr lang="en-US" sz="1800" dirty="0">
                <a:solidFill>
                  <a:schemeClr val="tx1"/>
                </a:solidFill>
              </a:rPr>
              <a:t>|   </a:t>
            </a:r>
            <a:r>
              <a:rPr lang="en-US" sz="1800" b="0" dirty="0">
                <a:solidFill>
                  <a:schemeClr val="tx1"/>
                </a:solidFill>
              </a:rPr>
              <a:t>&lt;&lt;Project ID&gt;&gt;</a:t>
            </a:r>
          </a:p>
        </p:txBody>
      </p:sp>
    </p:spTree>
    <p:extLst>
      <p:ext uri="{BB962C8B-B14F-4D97-AF65-F5344CB8AC3E}">
        <p14:creationId xmlns:p14="http://schemas.microsoft.com/office/powerpoint/2010/main" val="1172796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852136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311443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591358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二等辺三角形 9">
            <a:extLst>
              <a:ext uri="{FF2B5EF4-FFF2-40B4-BE49-F238E27FC236}">
                <a16:creationId xmlns:a16="http://schemas.microsoft.com/office/drawing/2014/main" id="{7144EABA-462E-C6A1-6D42-BFA2A1D6177A}"/>
              </a:ext>
            </a:extLst>
          </p:cNvPr>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7" name="二等辺三角形 10">
            <a:extLst>
              <a:ext uri="{FF2B5EF4-FFF2-40B4-BE49-F238E27FC236}">
                <a16:creationId xmlns:a16="http://schemas.microsoft.com/office/drawing/2014/main" id="{CB06A6B7-CDA3-8175-4CAD-38CC49F00F0A}"/>
              </a:ext>
            </a:extLst>
          </p:cNvPr>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8" name="Slide Number Placeholder 5">
            <a:extLst>
              <a:ext uri="{FF2B5EF4-FFF2-40B4-BE49-F238E27FC236}">
                <a16:creationId xmlns:a16="http://schemas.microsoft.com/office/drawing/2014/main" id="{58E7AA04-2C10-1CA8-B8B1-D170A3A0F6FB}"/>
              </a:ext>
            </a:extLst>
          </p:cNvPr>
          <p:cNvSpPr txBox="1">
            <a:spLocks/>
          </p:cNvSpPr>
          <p:nvPr userDrawn="1"/>
        </p:nvSpPr>
        <p:spPr>
          <a:xfrm>
            <a:off x="11435142" y="6492875"/>
            <a:ext cx="680658" cy="365125"/>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7D6051F-EF20-4D26-A49B-A9D5F0B34CE8}" type="slidenum">
              <a:rPr lang="en-US" smtClean="0"/>
              <a:pPr/>
              <a:t>‹#›</a:t>
            </a:fld>
            <a:endParaRPr lang="en-US" dirty="0"/>
          </a:p>
        </p:txBody>
      </p:sp>
    </p:spTree>
    <p:extLst>
      <p:ext uri="{BB962C8B-B14F-4D97-AF65-F5344CB8AC3E}">
        <p14:creationId xmlns:p14="http://schemas.microsoft.com/office/powerpoint/2010/main" val="28004890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8" name="二等辺三角形 11">
            <a:extLst>
              <a:ext uri="{FF2B5EF4-FFF2-40B4-BE49-F238E27FC236}">
                <a16:creationId xmlns:a16="http://schemas.microsoft.com/office/drawing/2014/main" id="{AB41C9B5-E02C-C760-82D5-DE373D4BC162}"/>
              </a:ext>
            </a:extLst>
          </p:cNvPr>
          <p:cNvSpPr/>
          <p:nvPr userDrawn="1"/>
        </p:nvSpPr>
        <p:spPr>
          <a:xfrm>
            <a:off x="0" y="6406010"/>
            <a:ext cx="12192000" cy="452885"/>
          </a:xfrm>
          <a:prstGeom prst="triangle">
            <a:avLst>
              <a:gd name="adj" fmla="val 85448"/>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0" name="二等辺三角形 9">
            <a:extLst>
              <a:ext uri="{FF2B5EF4-FFF2-40B4-BE49-F238E27FC236}">
                <a16:creationId xmlns:a16="http://schemas.microsoft.com/office/drawing/2014/main" id="{D1C6BD18-000D-D865-7703-8F13D6E54900}"/>
              </a:ext>
            </a:extLst>
          </p:cNvPr>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1" name="二等辺三角形 10">
            <a:extLst>
              <a:ext uri="{FF2B5EF4-FFF2-40B4-BE49-F238E27FC236}">
                <a16:creationId xmlns:a16="http://schemas.microsoft.com/office/drawing/2014/main" id="{2663B723-38EC-1F07-CD2B-FC6FF261C522}"/>
              </a:ext>
            </a:extLst>
          </p:cNvPr>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41255431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
        <p:nvSpPr>
          <p:cNvPr id="8" name="二等辺三角形 10">
            <a:extLst>
              <a:ext uri="{FF2B5EF4-FFF2-40B4-BE49-F238E27FC236}">
                <a16:creationId xmlns:a16="http://schemas.microsoft.com/office/drawing/2014/main" id="{166046A2-C252-0863-BE50-DB43D9A19863}"/>
              </a:ext>
            </a:extLst>
          </p:cNvPr>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302810767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90806934"/>
      </p:ext>
    </p:extLst>
  </p:cSld>
  <p:clrMapOvr>
    <a:masterClrMapping/>
  </p:clrMapOvr>
  <p:hf hdr="0" ft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666867431"/>
      </p:ext>
    </p:extLst>
  </p:cSld>
  <p:clrMapOvr>
    <a:masterClrMapping/>
  </p:clrMapOvr>
  <p:hf hdr="0" ftr="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89776130"/>
      </p:ext>
    </p:extLst>
  </p:cSld>
  <p:clrMapOvr>
    <a:masterClrMapping/>
  </p:clrMapOvr>
  <p:hf hdr="0" ft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0914261"/>
      </p:ext>
    </p:extLst>
  </p:cSld>
  <p:clrMapOvr>
    <a:masterClrMapping/>
  </p:clrMapOvr>
  <p:hf hdr="0" ftr="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86052261"/>
      </p:ext>
    </p:extLst>
  </p:cSld>
  <p:clrMapOvr>
    <a:masterClrMapping/>
  </p:clrMapOvr>
  <p:hf hdr="0" ftr="0"/>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二等辺三角形 10">
            <a:extLst>
              <a:ext uri="{FF2B5EF4-FFF2-40B4-BE49-F238E27FC236}">
                <a16:creationId xmlns:a16="http://schemas.microsoft.com/office/drawing/2014/main" id="{184A21AD-5361-7CDF-9CB9-C171C9AD10D4}"/>
              </a:ext>
            </a:extLst>
          </p:cNvPr>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4044152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二等辺三角形 9">
            <a:extLst>
              <a:ext uri="{FF2B5EF4-FFF2-40B4-BE49-F238E27FC236}">
                <a16:creationId xmlns:a16="http://schemas.microsoft.com/office/drawing/2014/main" id="{E9656B85-FD94-E44E-FE00-F4E12D03752E}"/>
              </a:ext>
            </a:extLst>
          </p:cNvPr>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9" name="二等辺三角形 10">
            <a:extLst>
              <a:ext uri="{FF2B5EF4-FFF2-40B4-BE49-F238E27FC236}">
                <a16:creationId xmlns:a16="http://schemas.microsoft.com/office/drawing/2014/main" id="{1D2C0DD4-D731-DD25-9D0E-851CDC10302D}"/>
              </a:ext>
            </a:extLst>
          </p:cNvPr>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428041421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Overall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666564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19" Type="http://schemas.openxmlformats.org/officeDocument/2006/relationships/image" Target="../media/image1.png"/><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304800"/>
            <a:ext cx="11684000" cy="79216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4800" y="1143000"/>
            <a:ext cx="11684000" cy="5181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5">
            <a:extLst>
              <a:ext uri="{FF2B5EF4-FFF2-40B4-BE49-F238E27FC236}">
                <a16:creationId xmlns:a16="http://schemas.microsoft.com/office/drawing/2014/main" id="{C064364F-1F37-4C7B-B31F-2D4F671B2CB9}"/>
              </a:ext>
            </a:extLst>
          </p:cNvPr>
          <p:cNvSpPr txBox="1">
            <a:spLocks/>
          </p:cNvSpPr>
          <p:nvPr userDrawn="1"/>
        </p:nvSpPr>
        <p:spPr>
          <a:xfrm>
            <a:off x="11435142" y="6492875"/>
            <a:ext cx="680658" cy="365125"/>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7D6051F-EF20-4D26-A49B-A9D5F0B34CE8}" type="slidenum">
              <a:rPr lang="en-US" smtClean="0"/>
              <a:pPr/>
              <a:t>‹#›</a:t>
            </a:fld>
            <a:endParaRPr lang="en-US" dirty="0"/>
          </a:p>
        </p:txBody>
      </p:sp>
      <p:pic>
        <p:nvPicPr>
          <p:cNvPr id="7" name="Picture 6" descr="A picture containing photo, table, person, monitor&#10;&#10;Description automatically generated">
            <a:extLst>
              <a:ext uri="{FF2B5EF4-FFF2-40B4-BE49-F238E27FC236}">
                <a16:creationId xmlns:a16="http://schemas.microsoft.com/office/drawing/2014/main" id="{0503738D-67F6-4FC8-88E8-C0D768AD3312}"/>
              </a:ext>
            </a:extLst>
          </p:cNvPr>
          <p:cNvPicPr>
            <a:picLocks noChangeAspect="1"/>
          </p:cNvPicPr>
          <p:nvPr userDrawn="1"/>
        </p:nvPicPr>
        <p:blipFill rotWithShape="1">
          <a:blip r:embed="rId16"/>
          <a:srcRect t="90286" r="71976"/>
          <a:stretch/>
        </p:blipFill>
        <p:spPr>
          <a:xfrm>
            <a:off x="0" y="6373302"/>
            <a:ext cx="2514600" cy="490308"/>
          </a:xfrm>
          <a:prstGeom prst="rect">
            <a:avLst/>
          </a:prstGeom>
        </p:spPr>
      </p:pic>
      <p:sp>
        <p:nvSpPr>
          <p:cNvPr id="4" name="TextBox 3">
            <a:extLst>
              <a:ext uri="{FF2B5EF4-FFF2-40B4-BE49-F238E27FC236}">
                <a16:creationId xmlns:a16="http://schemas.microsoft.com/office/drawing/2014/main" id="{A16EC11E-4ADA-413C-92B1-C0871F068AF1}"/>
              </a:ext>
            </a:extLst>
          </p:cNvPr>
          <p:cNvSpPr txBox="1"/>
          <p:nvPr userDrawn="1"/>
        </p:nvSpPr>
        <p:spPr>
          <a:xfrm>
            <a:off x="10287000" y="6536937"/>
            <a:ext cx="1066800" cy="276999"/>
          </a:xfrm>
          <a:prstGeom prst="rect">
            <a:avLst/>
          </a:prstGeom>
          <a:noFill/>
        </p:spPr>
        <p:txBody>
          <a:bodyPr wrap="square" rtlCol="0">
            <a:spAutoFit/>
          </a:bodyPr>
          <a:lstStyle/>
          <a:p>
            <a:fld id="{98C4007C-554A-4B16-A31C-089CB53EF86F}" type="datetime1">
              <a:rPr lang="en-US" sz="1200" b="1" smtClean="0"/>
              <a:t>3/9/2026</a:t>
            </a:fld>
            <a:endParaRPr lang="en-US" sz="1200" b="1" dirty="0"/>
          </a:p>
        </p:txBody>
      </p:sp>
    </p:spTree>
    <p:extLst>
      <p:ext uri="{BB962C8B-B14F-4D97-AF65-F5344CB8AC3E}">
        <p14:creationId xmlns:p14="http://schemas.microsoft.com/office/powerpoint/2010/main" val="4137453564"/>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50" r:id="rId3"/>
    <p:sldLayoutId id="2147483662" r:id="rId4"/>
    <p:sldLayoutId id="2147483651" r:id="rId5"/>
    <p:sldLayoutId id="2147483660"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p:txStyles>
    <p:titleStyle>
      <a:lvl1pPr algn="ctr" defTabSz="914400" rtl="0" eaLnBrk="1" latinLnBrk="0" hangingPunct="1">
        <a:spcBef>
          <a:spcPct val="0"/>
        </a:spcBef>
        <a:buNone/>
        <a:defRPr sz="4400" kern="1200">
          <a:solidFill>
            <a:schemeClr val="tx1"/>
          </a:solidFill>
          <a:latin typeface="Adobe Devanagari" pitchFamily="18" charset="0"/>
          <a:ea typeface="+mj-ea"/>
          <a:cs typeface="Adobe Devanagari" pitchFamily="18"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Wingdings" pitchFamily="2" charset="2"/>
        <a:buChar char="Ø"/>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Wingdings" pitchFamily="2" charset="2"/>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3/9/2026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
        <p:nvSpPr>
          <p:cNvPr id="8" name="Slide Number Placeholder 5">
            <a:extLst>
              <a:ext uri="{FF2B5EF4-FFF2-40B4-BE49-F238E27FC236}">
                <a16:creationId xmlns:a16="http://schemas.microsoft.com/office/drawing/2014/main" id="{1E3CBD5B-4B47-B94C-E50A-67720911A857}"/>
              </a:ext>
            </a:extLst>
          </p:cNvPr>
          <p:cNvSpPr txBox="1">
            <a:spLocks/>
          </p:cNvSpPr>
          <p:nvPr userDrawn="1"/>
        </p:nvSpPr>
        <p:spPr>
          <a:xfrm>
            <a:off x="11435142" y="6492875"/>
            <a:ext cx="680658" cy="365125"/>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7D6051F-EF20-4D26-A49B-A9D5F0B34CE8}" type="slidenum">
              <a:rPr lang="en-US" smtClean="0"/>
              <a:pPr/>
              <a:t>‹#›</a:t>
            </a:fld>
            <a:endParaRPr lang="en-US" dirty="0"/>
          </a:p>
        </p:txBody>
      </p:sp>
      <p:pic>
        <p:nvPicPr>
          <p:cNvPr id="9" name="Picture 8" descr="A picture containing photo, table, person, monitor&#10;&#10;Description automatically generated">
            <a:extLst>
              <a:ext uri="{FF2B5EF4-FFF2-40B4-BE49-F238E27FC236}">
                <a16:creationId xmlns:a16="http://schemas.microsoft.com/office/drawing/2014/main" id="{DC1EC220-7AE2-7243-231F-7722F72B92CF}"/>
              </a:ext>
            </a:extLst>
          </p:cNvPr>
          <p:cNvPicPr>
            <a:picLocks noChangeAspect="1"/>
          </p:cNvPicPr>
          <p:nvPr userDrawn="1"/>
        </p:nvPicPr>
        <p:blipFill rotWithShape="1">
          <a:blip r:embed="rId19"/>
          <a:srcRect t="90286" r="71976"/>
          <a:stretch/>
        </p:blipFill>
        <p:spPr>
          <a:xfrm>
            <a:off x="0" y="6373302"/>
            <a:ext cx="2514600" cy="490308"/>
          </a:xfrm>
          <a:prstGeom prst="rect">
            <a:avLst/>
          </a:prstGeom>
        </p:spPr>
      </p:pic>
      <p:sp>
        <p:nvSpPr>
          <p:cNvPr id="36" name="TextBox 35">
            <a:extLst>
              <a:ext uri="{FF2B5EF4-FFF2-40B4-BE49-F238E27FC236}">
                <a16:creationId xmlns:a16="http://schemas.microsoft.com/office/drawing/2014/main" id="{33CEE089-04ED-7548-741B-0989117087DB}"/>
              </a:ext>
            </a:extLst>
          </p:cNvPr>
          <p:cNvSpPr txBox="1"/>
          <p:nvPr userDrawn="1"/>
        </p:nvSpPr>
        <p:spPr>
          <a:xfrm>
            <a:off x="10287000" y="6536937"/>
            <a:ext cx="1066800" cy="276999"/>
          </a:xfrm>
          <a:prstGeom prst="rect">
            <a:avLst/>
          </a:prstGeom>
          <a:noFill/>
        </p:spPr>
        <p:txBody>
          <a:bodyPr wrap="square" rtlCol="0">
            <a:spAutoFit/>
          </a:bodyPr>
          <a:lstStyle/>
          <a:p>
            <a:fld id="{98C4007C-554A-4B16-A31C-089CB53EF86F}" type="datetime1">
              <a:rPr lang="en-US" sz="1200" b="1" smtClean="0"/>
              <a:t>3/9/2026</a:t>
            </a:fld>
            <a:endParaRPr lang="en-US" sz="1200" b="1" dirty="0"/>
          </a:p>
        </p:txBody>
      </p:sp>
    </p:spTree>
    <p:extLst>
      <p:ext uri="{BB962C8B-B14F-4D97-AF65-F5344CB8AC3E}">
        <p14:creationId xmlns:p14="http://schemas.microsoft.com/office/powerpoint/2010/main" val="2975044696"/>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 id="2147483699" r:id="rId17"/>
  </p:sldLayoutIdLst>
  <p:hf hdr="0" ftr="0"/>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F2105-5952-DC49-0AB8-8C9D989CEC28}"/>
            </a:ext>
          </a:extLst>
        </p:cNvPr>
        <p:cNvGrpSpPr/>
        <p:nvPr/>
      </p:nvGrpSpPr>
      <p:grpSpPr>
        <a:xfrm>
          <a:off x="0" y="0"/>
          <a:ext cx="0" cy="0"/>
          <a:chOff x="0" y="0"/>
          <a:chExt cx="0" cy="0"/>
        </a:xfrm>
      </p:grpSpPr>
      <p:sp>
        <p:nvSpPr>
          <p:cNvPr id="2" name="TextBox 1"/>
          <p:cNvSpPr txBox="1"/>
          <p:nvPr/>
        </p:nvSpPr>
        <p:spPr>
          <a:xfrm>
            <a:off x="685800" y="762000"/>
            <a:ext cx="7924800" cy="1077218"/>
          </a:xfrm>
          <a:prstGeom prst="rect">
            <a:avLst/>
          </a:prstGeom>
          <a:noFill/>
        </p:spPr>
        <p:txBody>
          <a:bodyPr wrap="square" rtlCol="0">
            <a:spAutoFit/>
          </a:bodyPr>
          <a:lstStyle/>
          <a:p>
            <a:r>
              <a:rPr lang="en-US" sz="3200" b="1" dirty="0"/>
              <a:t>An Intelligent Decision Support System for Sustainable Anthurium Farming</a:t>
            </a:r>
          </a:p>
        </p:txBody>
      </p:sp>
      <p:sp>
        <p:nvSpPr>
          <p:cNvPr id="3" name="TextBox 2"/>
          <p:cNvSpPr txBox="1"/>
          <p:nvPr/>
        </p:nvSpPr>
        <p:spPr>
          <a:xfrm>
            <a:off x="1447800" y="2819400"/>
            <a:ext cx="6096000" cy="646331"/>
          </a:xfrm>
          <a:prstGeom prst="rect">
            <a:avLst/>
          </a:prstGeom>
          <a:noFill/>
        </p:spPr>
        <p:txBody>
          <a:bodyPr wrap="square" rtlCol="0">
            <a:spAutoFit/>
          </a:bodyPr>
          <a:lstStyle/>
          <a:p>
            <a:r>
              <a:rPr lang="en-US" dirty="0"/>
              <a:t>Specialization : Information Technology</a:t>
            </a:r>
          </a:p>
          <a:p>
            <a:r>
              <a:rPr lang="en-US" dirty="0"/>
              <a:t>Group ID : 25-26J-357</a:t>
            </a:r>
          </a:p>
        </p:txBody>
      </p:sp>
    </p:spTree>
    <p:extLst>
      <p:ext uri="{BB962C8B-B14F-4D97-AF65-F5344CB8AC3E}">
        <p14:creationId xmlns:p14="http://schemas.microsoft.com/office/powerpoint/2010/main" val="1380456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F2105-5952-DC49-0AB8-8C9D989CEC28}"/>
            </a:ext>
          </a:extLst>
        </p:cNvPr>
        <p:cNvGrpSpPr/>
        <p:nvPr/>
      </p:nvGrpSpPr>
      <p:grpSpPr>
        <a:xfrm>
          <a:off x="0" y="0"/>
          <a:ext cx="0" cy="0"/>
          <a:chOff x="0" y="0"/>
          <a:chExt cx="0" cy="0"/>
        </a:xfrm>
      </p:grpSpPr>
      <p:sp>
        <p:nvSpPr>
          <p:cNvPr id="2" name="TextBox 1"/>
          <p:cNvSpPr txBox="1"/>
          <p:nvPr/>
        </p:nvSpPr>
        <p:spPr>
          <a:xfrm>
            <a:off x="302540" y="533400"/>
            <a:ext cx="5531610" cy="523220"/>
          </a:xfrm>
          <a:prstGeom prst="rect">
            <a:avLst/>
          </a:prstGeom>
          <a:noFill/>
        </p:spPr>
        <p:txBody>
          <a:bodyPr wrap="square" rtlCol="0">
            <a:spAutoFit/>
          </a:bodyPr>
          <a:lstStyle/>
          <a:p>
            <a:r>
              <a:rPr lang="en-US" sz="2800" b="1" dirty="0"/>
              <a:t>Introduction</a:t>
            </a:r>
          </a:p>
        </p:txBody>
      </p:sp>
      <p:sp>
        <p:nvSpPr>
          <p:cNvPr id="3" name="TextBox 2"/>
          <p:cNvSpPr txBox="1"/>
          <p:nvPr/>
        </p:nvSpPr>
        <p:spPr>
          <a:xfrm>
            <a:off x="4425375" y="304800"/>
            <a:ext cx="7391400" cy="5355312"/>
          </a:xfrm>
          <a:prstGeom prst="rect">
            <a:avLst/>
          </a:prstGeom>
          <a:noFill/>
        </p:spPr>
        <p:txBody>
          <a:bodyPr wrap="square" rtlCol="0">
            <a:spAutoFit/>
          </a:bodyPr>
          <a:lstStyle/>
          <a:p>
            <a:pPr marL="285750" indent="-285750">
              <a:buFont typeface="Arial" pitchFamily="34" charset="0"/>
              <a:buChar char="•"/>
            </a:pPr>
            <a:r>
              <a:rPr lang="en-US" dirty="0">
                <a:latin typeface="+mj-lt"/>
              </a:rPr>
              <a:t>This system is designed as an intelligent decision-support platform for improving Anthurium cultivation management through data-driven technologies.</a:t>
            </a:r>
          </a:p>
          <a:p>
            <a:pPr marL="285750" indent="-285750">
              <a:buFont typeface="Arial" pitchFamily="34" charset="0"/>
              <a:buChar char="•"/>
            </a:pPr>
            <a:r>
              <a:rPr lang="en-US" dirty="0">
                <a:latin typeface="+mj-lt"/>
              </a:rPr>
              <a:t> The Soil Management Module monitors soil conditions, analyzes collected data, and predicts optimal soil health to support better nutrient and irrigation decisions. </a:t>
            </a:r>
          </a:p>
          <a:p>
            <a:pPr marL="285750" indent="-285750">
              <a:buFont typeface="Arial" pitchFamily="34" charset="0"/>
              <a:buChar char="•"/>
            </a:pPr>
            <a:r>
              <a:rPr lang="en-US" dirty="0">
                <a:latin typeface="+mj-lt"/>
              </a:rPr>
              <a:t>The Weather-Based Recommendation System integrates real-time weather data from external APIs and applies analytical models to generate adaptive cultivation recommendations for farmers.</a:t>
            </a:r>
          </a:p>
          <a:p>
            <a:pPr marL="285750" indent="-285750">
              <a:buFont typeface="Arial" pitchFamily="34" charset="0"/>
              <a:buChar char="•"/>
            </a:pPr>
            <a:r>
              <a:rPr lang="en-US" dirty="0">
                <a:latin typeface="+mj-lt"/>
              </a:rPr>
              <a:t> The Disease Management Module uses image-based detection to identify plant diseases early and provide treatment suggestions along with reminder notifications for timely action.</a:t>
            </a:r>
          </a:p>
          <a:p>
            <a:pPr marL="285750" indent="-285750">
              <a:buFont typeface="Arial" pitchFamily="34" charset="0"/>
              <a:buChar char="•"/>
            </a:pPr>
            <a:r>
              <a:rPr lang="en-US" dirty="0">
                <a:latin typeface="+mj-lt"/>
              </a:rPr>
              <a:t>The Market Prediction Module analyzes historical market data to forecast future price trends of Anthurium. A key feature of the system is the Sustainability Score, which evaluates trend level, risk, and market volatility to support more stable and sustainable farming decisions. </a:t>
            </a:r>
          </a:p>
          <a:p>
            <a:pPr marL="285750" indent="-285750">
              <a:buFont typeface="Arial" pitchFamily="34" charset="0"/>
              <a:buChar char="•"/>
            </a:pPr>
            <a:endParaRPr lang="en-US" dirty="0">
              <a:latin typeface="+mj-lt"/>
            </a:endParaRPr>
          </a:p>
          <a:p>
            <a:r>
              <a:rPr lang="en-US" b="1" dirty="0">
                <a:latin typeface="+mj-lt"/>
              </a:rPr>
              <a:t>Together, these integrated modules create a smart ecosystem that enhances productivity, reduces risk, and improves economic outcomes for growers.</a:t>
            </a: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4867" y="1512277"/>
            <a:ext cx="3736060" cy="3833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414594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24BA1-76C5-EB98-6999-8F9CAB6D0906}"/>
              </a:ext>
            </a:extLst>
          </p:cNvPr>
          <p:cNvSpPr>
            <a:spLocks noGrp="1"/>
          </p:cNvSpPr>
          <p:nvPr>
            <p:ph type="title"/>
          </p:nvPr>
        </p:nvSpPr>
        <p:spPr/>
        <p:txBody>
          <a:bodyPr/>
          <a:lstStyle/>
          <a:p>
            <a:r>
              <a:rPr lang="en-US" b="1" dirty="0"/>
              <a:t>Context and Domain</a:t>
            </a:r>
          </a:p>
        </p:txBody>
      </p:sp>
      <p:sp>
        <p:nvSpPr>
          <p:cNvPr id="3" name="Content Placeholder 2">
            <a:extLst>
              <a:ext uri="{FF2B5EF4-FFF2-40B4-BE49-F238E27FC236}">
                <a16:creationId xmlns:a16="http://schemas.microsoft.com/office/drawing/2014/main" id="{A1994ECC-CA3A-FF32-D83F-A3210EAB7588}"/>
              </a:ext>
            </a:extLst>
          </p:cNvPr>
          <p:cNvSpPr>
            <a:spLocks noGrp="1"/>
          </p:cNvSpPr>
          <p:nvPr>
            <p:ph idx="1"/>
          </p:nvPr>
        </p:nvSpPr>
        <p:spPr/>
        <p:txBody>
          <a:bodyPr/>
          <a:lstStyle/>
          <a:p>
            <a:r>
              <a:rPr lang="en-US" dirty="0">
                <a:latin typeface="+mj-lt"/>
              </a:rPr>
              <a:t>The cultivation of Anthurium, a high value ornamental crop, represents a significant segment within the floriculture industry. Despite its economic importance, the management of Anthurium production systems is frequently constrained by the absence of integrated decision support mechanisms capable of synthesizing market intelligence, environmental dynamics, and plant health indicators.</a:t>
            </a:r>
          </a:p>
        </p:txBody>
      </p:sp>
    </p:spTree>
    <p:extLst>
      <p:ext uri="{BB962C8B-B14F-4D97-AF65-F5344CB8AC3E}">
        <p14:creationId xmlns:p14="http://schemas.microsoft.com/office/powerpoint/2010/main" val="581294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B98BF-E0BC-2CB2-7C9D-6E6766175637}"/>
              </a:ext>
            </a:extLst>
          </p:cNvPr>
          <p:cNvSpPr>
            <a:spLocks noGrp="1"/>
          </p:cNvSpPr>
          <p:nvPr>
            <p:ph type="title"/>
          </p:nvPr>
        </p:nvSpPr>
        <p:spPr/>
        <p:txBody>
          <a:bodyPr/>
          <a:lstStyle/>
          <a:p>
            <a:r>
              <a:rPr lang="en-US" dirty="0"/>
              <a:t>Stakeholders</a:t>
            </a:r>
          </a:p>
        </p:txBody>
      </p:sp>
      <p:sp>
        <p:nvSpPr>
          <p:cNvPr id="3" name="Content Placeholder 2">
            <a:extLst>
              <a:ext uri="{FF2B5EF4-FFF2-40B4-BE49-F238E27FC236}">
                <a16:creationId xmlns:a16="http://schemas.microsoft.com/office/drawing/2014/main" id="{C3942B12-381B-4B82-173F-02E394F491F2}"/>
              </a:ext>
            </a:extLst>
          </p:cNvPr>
          <p:cNvSpPr>
            <a:spLocks noGrp="1"/>
          </p:cNvSpPr>
          <p:nvPr>
            <p:ph idx="1"/>
          </p:nvPr>
        </p:nvSpPr>
        <p:spPr/>
        <p:txBody>
          <a:bodyPr/>
          <a:lstStyle/>
          <a:p>
            <a:r>
              <a:rPr lang="en-US" dirty="0"/>
              <a:t>Primary stakeholders consist of Anthurium cultivators whose production decisions directly depend on accurate environmental and economic insights. </a:t>
            </a:r>
          </a:p>
          <a:p>
            <a:r>
              <a:rPr lang="en-US" dirty="0"/>
              <a:t>Secondary stakeholders include agricultural consultants and agronomic researchers, while agricultural investors and supply chain decision makers are the broader strategic stakeholders.</a:t>
            </a:r>
          </a:p>
        </p:txBody>
      </p:sp>
    </p:spTree>
    <p:extLst>
      <p:ext uri="{BB962C8B-B14F-4D97-AF65-F5344CB8AC3E}">
        <p14:creationId xmlns:p14="http://schemas.microsoft.com/office/powerpoint/2010/main" val="3178117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FE611-907A-DAB6-898D-1C9B86B327A7}"/>
              </a:ext>
            </a:extLst>
          </p:cNvPr>
          <p:cNvSpPr>
            <a:spLocks noGrp="1"/>
          </p:cNvSpPr>
          <p:nvPr>
            <p:ph type="title"/>
          </p:nvPr>
        </p:nvSpPr>
        <p:spPr/>
        <p:txBody>
          <a:bodyPr>
            <a:normAutofit fontScale="90000"/>
          </a:bodyPr>
          <a:lstStyle/>
          <a:p>
            <a:r>
              <a:rPr lang="en-US" b="1" dirty="0"/>
              <a:t>Observed Issue</a:t>
            </a:r>
            <a:br>
              <a:rPr lang="en-US" b="1" dirty="0"/>
            </a:br>
            <a:endParaRPr lang="en-US" dirty="0"/>
          </a:p>
        </p:txBody>
      </p:sp>
      <p:sp>
        <p:nvSpPr>
          <p:cNvPr id="3" name="Content Placeholder 2">
            <a:extLst>
              <a:ext uri="{FF2B5EF4-FFF2-40B4-BE49-F238E27FC236}">
                <a16:creationId xmlns:a16="http://schemas.microsoft.com/office/drawing/2014/main" id="{440CCDDE-ECCB-94EC-BD4F-8C4F779999E1}"/>
              </a:ext>
            </a:extLst>
          </p:cNvPr>
          <p:cNvSpPr>
            <a:spLocks noGrp="1"/>
          </p:cNvSpPr>
          <p:nvPr>
            <p:ph idx="1"/>
          </p:nvPr>
        </p:nvSpPr>
        <p:spPr/>
        <p:txBody>
          <a:bodyPr>
            <a:normAutofit/>
          </a:bodyPr>
          <a:lstStyle/>
          <a:p>
            <a:pPr marL="0" indent="0">
              <a:buNone/>
            </a:pPr>
            <a:r>
              <a:rPr lang="en-US" sz="3000" dirty="0">
                <a:latin typeface="+mj-lt"/>
              </a:rPr>
              <a:t>Current farming practices largely depend on experience-driven judgment and fragmented information sources, resulting in several systemic inefficiencies:</a:t>
            </a:r>
          </a:p>
          <a:p>
            <a:r>
              <a:rPr lang="en-US" sz="3000" dirty="0">
                <a:latin typeface="+mj-lt"/>
              </a:rPr>
              <a:t>Inability to anticipate market price trajectories and associated volatility.</a:t>
            </a:r>
          </a:p>
          <a:p>
            <a:r>
              <a:rPr lang="en-US" sz="3000" dirty="0">
                <a:latin typeface="+mj-lt"/>
              </a:rPr>
              <a:t>Delayed identification of plant diseases and physiological stress indicators.</a:t>
            </a:r>
          </a:p>
          <a:p>
            <a:r>
              <a:rPr lang="en-US" sz="3000" dirty="0">
                <a:latin typeface="+mj-lt"/>
              </a:rPr>
              <a:t>Lack of adaptive irrigation strategies based on future climatic variability.</a:t>
            </a:r>
          </a:p>
          <a:p>
            <a:r>
              <a:rPr lang="en-US" sz="3000" dirty="0">
                <a:latin typeface="+mj-lt"/>
              </a:rPr>
              <a:t>Limited understanding of soil nutrient dynamics and long-term soil sustainability.</a:t>
            </a:r>
          </a:p>
          <a:p>
            <a:endParaRPr lang="en-US" dirty="0"/>
          </a:p>
        </p:txBody>
      </p:sp>
    </p:spTree>
    <p:extLst>
      <p:ext uri="{BB962C8B-B14F-4D97-AF65-F5344CB8AC3E}">
        <p14:creationId xmlns:p14="http://schemas.microsoft.com/office/powerpoint/2010/main" val="227613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F287B-BD1A-1781-721B-5A85ED6BA77D}"/>
              </a:ext>
            </a:extLst>
          </p:cNvPr>
          <p:cNvSpPr>
            <a:spLocks noGrp="1"/>
          </p:cNvSpPr>
          <p:nvPr>
            <p:ph type="title"/>
          </p:nvPr>
        </p:nvSpPr>
        <p:spPr/>
        <p:txBody>
          <a:bodyPr>
            <a:normAutofit fontScale="90000"/>
          </a:bodyPr>
          <a:lstStyle/>
          <a:p>
            <a:r>
              <a:rPr lang="en-US" b="1" dirty="0"/>
              <a:t>Why It Matters</a:t>
            </a:r>
            <a:br>
              <a:rPr lang="en-US" b="1" dirty="0"/>
            </a:br>
            <a:endParaRPr lang="en-US" dirty="0"/>
          </a:p>
        </p:txBody>
      </p:sp>
      <p:sp>
        <p:nvSpPr>
          <p:cNvPr id="4" name="Rectangle 1">
            <a:extLst>
              <a:ext uri="{FF2B5EF4-FFF2-40B4-BE49-F238E27FC236}">
                <a16:creationId xmlns:a16="http://schemas.microsoft.com/office/drawing/2014/main" id="{1F0658F4-39DC-BB03-545B-ACE26C444541}"/>
              </a:ext>
            </a:extLst>
          </p:cNvPr>
          <p:cNvSpPr>
            <a:spLocks noGrp="1" noChangeArrowheads="1"/>
          </p:cNvSpPr>
          <p:nvPr>
            <p:ph idx="1"/>
          </p:nvPr>
        </p:nvSpPr>
        <p:spPr bwMode="auto">
          <a:xfrm>
            <a:off x="203200" y="990600"/>
            <a:ext cx="11684000"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i="0" u="none" strike="noStrike" cap="none" normalizeH="0" baseline="0" dirty="0">
                <a:ln>
                  <a:noFill/>
                </a:ln>
                <a:solidFill>
                  <a:schemeClr val="tx1"/>
                </a:solidFill>
                <a:effectLst/>
                <a:latin typeface="Arial" panose="020B0604020202020204" pitchFamily="34" charset="0"/>
              </a:rPr>
              <a:t>Current limitations create economic uncertainty and resource inefficiency for farmers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i="0" u="none" strike="noStrike" cap="none" normalizeH="0" baseline="0" dirty="0">
                <a:ln>
                  <a:noFill/>
                </a:ln>
                <a:solidFill>
                  <a:schemeClr val="tx1"/>
                </a:solidFill>
                <a:effectLst/>
                <a:latin typeface="Arial" panose="020B0604020202020204" pitchFamily="34" charset="0"/>
              </a:rPr>
              <a:t>Increased vulnerability to environmental and market fluctuations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i="0" u="none" strike="noStrike" cap="none" normalizeH="0" baseline="0" dirty="0">
                <a:ln>
                  <a:noFill/>
                </a:ln>
                <a:solidFill>
                  <a:schemeClr val="tx1"/>
                </a:solidFill>
                <a:effectLst/>
                <a:latin typeface="Arial" panose="020B0604020202020204" pitchFamily="34" charset="0"/>
              </a:rPr>
              <a:t>Reduces both farmer profitability and agricultural sustainability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i="0" u="none" strike="noStrike" cap="none" normalizeH="0" baseline="0" dirty="0">
                <a:ln>
                  <a:noFill/>
                </a:ln>
                <a:solidFill>
                  <a:schemeClr val="tx1"/>
                </a:solidFill>
                <a:effectLst/>
                <a:latin typeface="Arial" panose="020B0604020202020204" pitchFamily="34" charset="0"/>
              </a:rPr>
              <a:t>Clear need for a data-driven, intelligent decision-support platform tailored specifically for Anthurium cultivation </a:t>
            </a:r>
          </a:p>
        </p:txBody>
      </p:sp>
    </p:spTree>
    <p:extLst>
      <p:ext uri="{BB962C8B-B14F-4D97-AF65-F5344CB8AC3E}">
        <p14:creationId xmlns:p14="http://schemas.microsoft.com/office/powerpoint/2010/main" val="3821910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6E31F-4AFC-F1BA-8590-D7E7B0449FB4}"/>
              </a:ext>
            </a:extLst>
          </p:cNvPr>
          <p:cNvSpPr>
            <a:spLocks noGrp="1"/>
          </p:cNvSpPr>
          <p:nvPr>
            <p:ph type="title"/>
          </p:nvPr>
        </p:nvSpPr>
        <p:spPr/>
        <p:txBody>
          <a:bodyPr/>
          <a:lstStyle/>
          <a:p>
            <a:r>
              <a:rPr lang="en-US" dirty="0"/>
              <a:t>Research Gap</a:t>
            </a:r>
          </a:p>
        </p:txBody>
      </p:sp>
      <p:sp>
        <p:nvSpPr>
          <p:cNvPr id="3" name="Content Placeholder 2">
            <a:extLst>
              <a:ext uri="{FF2B5EF4-FFF2-40B4-BE49-F238E27FC236}">
                <a16:creationId xmlns:a16="http://schemas.microsoft.com/office/drawing/2014/main" id="{D3D5E16A-D967-DA02-B6B5-38623B896345}"/>
              </a:ext>
            </a:extLst>
          </p:cNvPr>
          <p:cNvSpPr>
            <a:spLocks noGrp="1"/>
          </p:cNvSpPr>
          <p:nvPr>
            <p:ph idx="1"/>
          </p:nvPr>
        </p:nvSpPr>
        <p:spPr/>
        <p:txBody>
          <a:bodyPr/>
          <a:lstStyle/>
          <a:p>
            <a:pPr marL="0" indent="0">
              <a:buNone/>
            </a:pPr>
            <a:endParaRPr lang="en-US" dirty="0"/>
          </a:p>
        </p:txBody>
      </p:sp>
    </p:spTree>
    <p:extLst>
      <p:ext uri="{BB962C8B-B14F-4D97-AF65-F5344CB8AC3E}">
        <p14:creationId xmlns:p14="http://schemas.microsoft.com/office/powerpoint/2010/main" val="2168582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F2105-5952-DC49-0AB8-8C9D989CEC2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C89BCC8-4C8F-582C-6004-6E24786F4B4E}"/>
              </a:ext>
            </a:extLst>
          </p:cNvPr>
          <p:cNvSpPr txBox="1"/>
          <p:nvPr/>
        </p:nvSpPr>
        <p:spPr>
          <a:xfrm>
            <a:off x="3619500" y="3962400"/>
            <a:ext cx="4953000" cy="738664"/>
          </a:xfrm>
          <a:prstGeom prst="rect">
            <a:avLst/>
          </a:prstGeom>
          <a:noFill/>
        </p:spPr>
        <p:txBody>
          <a:bodyPr wrap="square" rtlCol="0">
            <a:spAutoFit/>
          </a:bodyPr>
          <a:lstStyle/>
          <a:p>
            <a:r>
              <a:rPr lang="en-US" dirty="0"/>
              <a:t>   </a:t>
            </a:r>
            <a:r>
              <a:rPr lang="en-US" sz="2400" dirty="0"/>
              <a:t>IT22109958|  Soysa H. R. T.</a:t>
            </a:r>
          </a:p>
          <a:p>
            <a:r>
              <a:rPr lang="en-US" dirty="0"/>
              <a:t>   Specialization : Information Technology </a:t>
            </a:r>
          </a:p>
        </p:txBody>
      </p:sp>
      <p:sp>
        <p:nvSpPr>
          <p:cNvPr id="3" name="TextBox 2">
            <a:extLst>
              <a:ext uri="{FF2B5EF4-FFF2-40B4-BE49-F238E27FC236}">
                <a16:creationId xmlns:a16="http://schemas.microsoft.com/office/drawing/2014/main" id="{34A02B36-0DE1-9B7A-FFF9-1B44297144F3}"/>
              </a:ext>
            </a:extLst>
          </p:cNvPr>
          <p:cNvSpPr txBox="1"/>
          <p:nvPr/>
        </p:nvSpPr>
        <p:spPr>
          <a:xfrm>
            <a:off x="2590800" y="1600200"/>
            <a:ext cx="6553200" cy="2062103"/>
          </a:xfrm>
          <a:prstGeom prst="rect">
            <a:avLst/>
          </a:prstGeom>
          <a:noFill/>
        </p:spPr>
        <p:txBody>
          <a:bodyPr wrap="square" rtlCol="0">
            <a:spAutoFit/>
          </a:bodyPr>
          <a:lstStyle/>
          <a:p>
            <a:pPr algn="ctr"/>
            <a:r>
              <a:rPr lang="en-US" sz="3200" b="1" dirty="0"/>
              <a:t>WEATHER DETECTONG </a:t>
            </a:r>
          </a:p>
          <a:p>
            <a:pPr algn="ctr"/>
            <a:r>
              <a:rPr lang="en-US" sz="3200" b="1" dirty="0"/>
              <a:t>&amp; </a:t>
            </a:r>
          </a:p>
          <a:p>
            <a:pPr algn="ctr"/>
            <a:r>
              <a:rPr lang="en-US" sz="3200" b="1" dirty="0"/>
              <a:t>WATERING SHEDULE SUGGETION MODULE</a:t>
            </a:r>
            <a:endParaRPr lang="en-US" sz="3200" dirty="0"/>
          </a:p>
        </p:txBody>
      </p:sp>
      <p:sp>
        <p:nvSpPr>
          <p:cNvPr id="4" name="Rectangle 3">
            <a:extLst>
              <a:ext uri="{FF2B5EF4-FFF2-40B4-BE49-F238E27FC236}">
                <a16:creationId xmlns:a16="http://schemas.microsoft.com/office/drawing/2014/main" id="{06CDE120-7139-6746-28BE-6403EAEC1929}"/>
              </a:ext>
            </a:extLst>
          </p:cNvPr>
          <p:cNvSpPr/>
          <p:nvPr/>
        </p:nvSpPr>
        <p:spPr>
          <a:xfrm>
            <a:off x="9635836" y="381000"/>
            <a:ext cx="1551709" cy="1828800"/>
          </a:xfrm>
          <a:prstGeom prst="rect">
            <a:avLst/>
          </a:prstGeom>
          <a:blipFill dpi="0" rotWithShape="1">
            <a:blip r:embed="rId2" cstate="print">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7E4FAB4-7065-5A0A-EDC5-5FBC1053DE8A}"/>
              </a:ext>
            </a:extLst>
          </p:cNvPr>
          <p:cNvSpPr/>
          <p:nvPr/>
        </p:nvSpPr>
        <p:spPr>
          <a:xfrm>
            <a:off x="3733800" y="6488668"/>
            <a:ext cx="2741969" cy="369332"/>
          </a:xfrm>
          <a:prstGeom prst="rect">
            <a:avLst/>
          </a:prstGeom>
        </p:spPr>
        <p:txBody>
          <a:bodyPr wrap="none">
            <a:spAutoFit/>
          </a:bodyPr>
          <a:lstStyle/>
          <a:p>
            <a:r>
              <a:rPr lang="en-US" dirty="0"/>
              <a:t>IT22109958 | </a:t>
            </a:r>
            <a:r>
              <a:rPr lang="en-US" dirty="0" err="1"/>
              <a:t>Soysa</a:t>
            </a:r>
            <a:r>
              <a:rPr lang="en-US" dirty="0"/>
              <a:t> H.R.T.</a:t>
            </a:r>
          </a:p>
        </p:txBody>
      </p:sp>
    </p:spTree>
    <p:extLst>
      <p:ext uri="{BB962C8B-B14F-4D97-AF65-F5344CB8AC3E}">
        <p14:creationId xmlns:p14="http://schemas.microsoft.com/office/powerpoint/2010/main" val="18414594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D7F8E-02A6-ED8E-791C-AAC893F470E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3775143-243A-5824-F2F0-CEF5D4C5560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4889153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F2105-5952-DC49-0AB8-8C9D989CEC28}"/>
            </a:ext>
          </a:extLst>
        </p:cNvPr>
        <p:cNvGrpSpPr/>
        <p:nvPr/>
      </p:nvGrpSpPr>
      <p:grpSpPr>
        <a:xfrm>
          <a:off x="0" y="0"/>
          <a:ext cx="0" cy="0"/>
          <a:chOff x="0" y="0"/>
          <a:chExt cx="0" cy="0"/>
        </a:xfrm>
      </p:grpSpPr>
      <p:sp>
        <p:nvSpPr>
          <p:cNvPr id="2" name="TextBox 1"/>
          <p:cNvSpPr txBox="1"/>
          <p:nvPr/>
        </p:nvSpPr>
        <p:spPr>
          <a:xfrm>
            <a:off x="3810000" y="3581400"/>
            <a:ext cx="4953000" cy="738664"/>
          </a:xfrm>
          <a:prstGeom prst="rect">
            <a:avLst/>
          </a:prstGeom>
          <a:noFill/>
        </p:spPr>
        <p:txBody>
          <a:bodyPr wrap="square" rtlCol="0">
            <a:spAutoFit/>
          </a:bodyPr>
          <a:lstStyle/>
          <a:p>
            <a:r>
              <a:rPr lang="en-US" dirty="0"/>
              <a:t>   </a:t>
            </a:r>
            <a:r>
              <a:rPr lang="en-US" sz="2400" dirty="0"/>
              <a:t>IT22117564|  Peiris W.V.D</a:t>
            </a:r>
          </a:p>
          <a:p>
            <a:r>
              <a:rPr lang="en-US" dirty="0"/>
              <a:t>   Specialization : Information Technology </a:t>
            </a:r>
          </a:p>
        </p:txBody>
      </p:sp>
      <p:sp>
        <p:nvSpPr>
          <p:cNvPr id="3" name="TextBox 2"/>
          <p:cNvSpPr txBox="1"/>
          <p:nvPr/>
        </p:nvSpPr>
        <p:spPr>
          <a:xfrm>
            <a:off x="3810000" y="1295400"/>
            <a:ext cx="5029200" cy="1569660"/>
          </a:xfrm>
          <a:prstGeom prst="rect">
            <a:avLst/>
          </a:prstGeom>
          <a:noFill/>
        </p:spPr>
        <p:txBody>
          <a:bodyPr wrap="square" rtlCol="0">
            <a:spAutoFit/>
          </a:bodyPr>
          <a:lstStyle/>
          <a:p>
            <a:r>
              <a:rPr lang="en-US" sz="3200" b="1" dirty="0"/>
              <a:t>       Market Analysis </a:t>
            </a:r>
          </a:p>
          <a:p>
            <a:r>
              <a:rPr lang="en-US" sz="3200" b="1" dirty="0"/>
              <a:t>                    &amp;</a:t>
            </a:r>
          </a:p>
          <a:p>
            <a:r>
              <a:rPr lang="en-US" sz="3200" b="1" dirty="0"/>
              <a:t>Price Prediction Module</a:t>
            </a:r>
            <a:endParaRPr lang="en-US" sz="3200" dirty="0"/>
          </a:p>
        </p:txBody>
      </p:sp>
      <p:pic>
        <p:nvPicPr>
          <p:cNvPr id="2051" name="Picture 3"/>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11740"/>
          <a:stretch/>
        </p:blipFill>
        <p:spPr bwMode="auto">
          <a:xfrm>
            <a:off x="9753601" y="172163"/>
            <a:ext cx="2209800" cy="190806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3124200" y="6400800"/>
            <a:ext cx="5181600" cy="369332"/>
          </a:xfrm>
          <a:prstGeom prst="rect">
            <a:avLst/>
          </a:prstGeom>
          <a:noFill/>
        </p:spPr>
        <p:txBody>
          <a:bodyPr wrap="square" rtlCol="0">
            <a:spAutoFit/>
          </a:bodyPr>
          <a:lstStyle/>
          <a:p>
            <a:r>
              <a:rPr lang="en-US" dirty="0"/>
              <a:t>IT22117564 | Peiris W.V.D</a:t>
            </a:r>
          </a:p>
        </p:txBody>
      </p:sp>
    </p:spTree>
    <p:extLst>
      <p:ext uri="{BB962C8B-B14F-4D97-AF65-F5344CB8AC3E}">
        <p14:creationId xmlns:p14="http://schemas.microsoft.com/office/powerpoint/2010/main" val="1841459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40B182-E2F8-FE6B-0C2C-02F3F4EBE761}"/>
              </a:ext>
            </a:extLst>
          </p:cNvPr>
          <p:cNvSpPr>
            <a:spLocks noGrp="1"/>
          </p:cNvSpPr>
          <p:nvPr>
            <p:ph idx="1"/>
          </p:nvPr>
        </p:nvSpPr>
        <p:spPr>
          <a:xfrm>
            <a:off x="838200" y="533400"/>
            <a:ext cx="10666412" cy="5486400"/>
          </a:xfrm>
        </p:spPr>
        <p:txBody>
          <a:bodyPr>
            <a:normAutofit/>
          </a:bodyPr>
          <a:lstStyle/>
          <a:p>
            <a:pPr marL="0" indent="0">
              <a:buNone/>
            </a:pPr>
            <a:r>
              <a:rPr lang="en-US" sz="2800" b="1" dirty="0">
                <a:solidFill>
                  <a:schemeClr val="tx1">
                    <a:lumMod val="95000"/>
                    <a:lumOff val="5000"/>
                  </a:schemeClr>
                </a:solidFill>
              </a:rPr>
              <a:t>Research Gap</a:t>
            </a:r>
          </a:p>
          <a:p>
            <a:pPr>
              <a:buFont typeface="Wingdings" panose="05000000000000000000" pitchFamily="2" charset="2"/>
              <a:buChar char="§"/>
            </a:pPr>
            <a:r>
              <a:rPr lang="en-US" sz="2000" dirty="0">
                <a:latin typeface="Calibri" panose="020F0502020204030204" pitchFamily="34" charset="0"/>
                <a:cs typeface="Calibri" panose="020F0502020204030204" pitchFamily="34" charset="0"/>
              </a:rPr>
              <a:t>Existing price prediction models focus mostly on single-algorithm point estimates, lacking integration of hybrid/fusion models that leverage complementary strengths to improve predictive accuracy.</a:t>
            </a:r>
          </a:p>
          <a:p>
            <a:pPr>
              <a:buFont typeface="Wingdings" panose="05000000000000000000" pitchFamily="2" charset="2"/>
              <a:buChar char="§"/>
            </a:pPr>
            <a:r>
              <a:rPr lang="en-US" sz="2000" dirty="0">
                <a:latin typeface="Calibri" panose="020F0502020204030204" pitchFamily="34" charset="0"/>
                <a:cs typeface="Calibri" panose="020F0502020204030204" pitchFamily="34" charset="0"/>
              </a:rPr>
              <a:t>Current approaches rarely incorporate real time sustainability, trend, and risk assessment, leaving users unaware of whether the predicted price is reliable or actionable.</a:t>
            </a:r>
          </a:p>
          <a:p>
            <a:pPr>
              <a:buFont typeface="Wingdings" panose="05000000000000000000" pitchFamily="2" charset="2"/>
              <a:buChar char="§"/>
            </a:pPr>
            <a:r>
              <a:rPr lang="en-US" sz="2000" dirty="0">
                <a:latin typeface="Calibri" panose="020F0502020204030204" pitchFamily="34" charset="0"/>
                <a:cs typeface="Calibri" panose="020F0502020204030204" pitchFamily="34" charset="0"/>
              </a:rPr>
              <a:t>Existing approaches rarely integrate hybrid predictive models that combine deep learning for time-series patterns with statistical assessment of risk and sustainability, leaving a gap in actionable, decision-ready price intelligence.</a:t>
            </a:r>
          </a:p>
          <a:p>
            <a:pPr>
              <a:buFont typeface="Wingdings" panose="05000000000000000000" pitchFamily="2" charset="2"/>
              <a:buChar char="§"/>
            </a:pPr>
            <a:r>
              <a:rPr lang="en-US" sz="2000" dirty="0">
                <a:latin typeface="Calibri" panose="020F0502020204030204" pitchFamily="34" charset="0"/>
                <a:cs typeface="Calibri" panose="020F0502020204030204" pitchFamily="34" charset="0"/>
              </a:rPr>
              <a:t>No existing solution integrates accurate hybrid predictions with trend and risk evaluation to generate clear, sustainability-based recommendations too.</a:t>
            </a:r>
            <a:endParaRPr lang="en-US" sz="2000" dirty="0">
              <a:solidFill>
                <a:schemeClr val="tx1">
                  <a:lumMod val="95000"/>
                  <a:lumOff val="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835268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F9365-D210-0220-25D1-8866433C1240}"/>
              </a:ext>
            </a:extLst>
          </p:cNvPr>
          <p:cNvSpPr>
            <a:spLocks noGrp="1"/>
          </p:cNvSpPr>
          <p:nvPr>
            <p:ph type="title"/>
          </p:nvPr>
        </p:nvSpPr>
        <p:spPr/>
        <p:txBody>
          <a:bodyPr/>
          <a:lstStyle/>
          <a:p>
            <a:r>
              <a:rPr lang="en-US" dirty="0" err="1"/>
              <a:t>Pramudi</a:t>
            </a:r>
            <a:r>
              <a:rPr lang="en-US" dirty="0"/>
              <a:t> </a:t>
            </a:r>
          </a:p>
        </p:txBody>
      </p:sp>
      <p:sp>
        <p:nvSpPr>
          <p:cNvPr id="3" name="Content Placeholder 2">
            <a:extLst>
              <a:ext uri="{FF2B5EF4-FFF2-40B4-BE49-F238E27FC236}">
                <a16:creationId xmlns:a16="http://schemas.microsoft.com/office/drawing/2014/main" id="{13696A4F-78F0-DB9C-3E92-D85C36A005B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1195635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882F6-4C69-4E33-D533-AC65264D556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6D8C166-EDFF-FD7F-498F-16B17EAE026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7301247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4C48D-A078-DEBD-CAB6-31148D73820F}"/>
              </a:ext>
            </a:extLst>
          </p:cNvPr>
          <p:cNvSpPr>
            <a:spLocks noGrp="1"/>
          </p:cNvSpPr>
          <p:nvPr>
            <p:ph type="title"/>
          </p:nvPr>
        </p:nvSpPr>
        <p:spPr/>
        <p:txBody>
          <a:bodyPr/>
          <a:lstStyle/>
          <a:p>
            <a:r>
              <a:rPr lang="en-US" dirty="0"/>
              <a:t>Semi </a:t>
            </a:r>
          </a:p>
        </p:txBody>
      </p:sp>
      <p:sp>
        <p:nvSpPr>
          <p:cNvPr id="3" name="Content Placeholder 2">
            <a:extLst>
              <a:ext uri="{FF2B5EF4-FFF2-40B4-BE49-F238E27FC236}">
                <a16:creationId xmlns:a16="http://schemas.microsoft.com/office/drawing/2014/main" id="{B6A316D0-EC06-3985-70A5-0CAD5B0D4F6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4179907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93FF7-7E01-36AF-C451-F34F557A61D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77E55FC-5F78-E34C-C18E-647354D95B8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7832242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E63C0-CAC6-8ED7-E92B-78CBFE92DF35}"/>
              </a:ext>
            </a:extLst>
          </p:cNvPr>
          <p:cNvSpPr>
            <a:spLocks noGrp="1"/>
          </p:cNvSpPr>
          <p:nvPr>
            <p:ph type="title"/>
          </p:nvPr>
        </p:nvSpPr>
        <p:spPr/>
        <p:txBody>
          <a:bodyPr/>
          <a:lstStyle/>
          <a:p>
            <a:r>
              <a:rPr lang="en-US" dirty="0"/>
              <a:t>Solution Summary</a:t>
            </a:r>
          </a:p>
        </p:txBody>
      </p:sp>
      <p:sp>
        <p:nvSpPr>
          <p:cNvPr id="3" name="Content Placeholder 2">
            <a:extLst>
              <a:ext uri="{FF2B5EF4-FFF2-40B4-BE49-F238E27FC236}">
                <a16:creationId xmlns:a16="http://schemas.microsoft.com/office/drawing/2014/main" id="{18C3C38D-BAE0-DD9F-FEBD-26B735245390}"/>
              </a:ext>
            </a:extLst>
          </p:cNvPr>
          <p:cNvSpPr>
            <a:spLocks noGrp="1"/>
          </p:cNvSpPr>
          <p:nvPr>
            <p:ph idx="1"/>
          </p:nvPr>
        </p:nvSpPr>
        <p:spPr/>
        <p:txBody>
          <a:bodyPr/>
          <a:lstStyle/>
          <a:p>
            <a:r>
              <a:rPr lang="en-US" dirty="0"/>
              <a:t>A multi-module smart farming platform was developed to support sustainable Anthurium cultivation through predictive analytics and intelligent recommendations.</a:t>
            </a:r>
            <a:endParaRPr lang="en-US" dirty="0">
              <a:latin typeface="+mj-lt"/>
            </a:endParaRPr>
          </a:p>
        </p:txBody>
      </p:sp>
    </p:spTree>
    <p:extLst>
      <p:ext uri="{BB962C8B-B14F-4D97-AF65-F5344CB8AC3E}">
        <p14:creationId xmlns:p14="http://schemas.microsoft.com/office/powerpoint/2010/main" val="10570772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DA5CA-B488-EF9E-0DCE-C071CCE4CAC0}"/>
              </a:ext>
            </a:extLst>
          </p:cNvPr>
          <p:cNvSpPr>
            <a:spLocks noGrp="1"/>
          </p:cNvSpPr>
          <p:nvPr>
            <p:ph type="title"/>
          </p:nvPr>
        </p:nvSpPr>
        <p:spPr/>
        <p:txBody>
          <a:bodyPr>
            <a:normAutofit fontScale="90000"/>
          </a:bodyPr>
          <a:lstStyle/>
          <a:p>
            <a:r>
              <a:rPr lang="en-US" b="1" dirty="0"/>
              <a:t>Core Modules Implemented</a:t>
            </a:r>
            <a:br>
              <a:rPr lang="en-US" b="1" dirty="0"/>
            </a:br>
            <a:endParaRPr lang="en-US" dirty="0"/>
          </a:p>
        </p:txBody>
      </p:sp>
      <p:sp>
        <p:nvSpPr>
          <p:cNvPr id="3" name="Content Placeholder 2">
            <a:extLst>
              <a:ext uri="{FF2B5EF4-FFF2-40B4-BE49-F238E27FC236}">
                <a16:creationId xmlns:a16="http://schemas.microsoft.com/office/drawing/2014/main" id="{B4790B4D-CBA2-FB7F-A361-3D004857CFBD}"/>
              </a:ext>
            </a:extLst>
          </p:cNvPr>
          <p:cNvSpPr>
            <a:spLocks noGrp="1"/>
          </p:cNvSpPr>
          <p:nvPr>
            <p:ph idx="1"/>
          </p:nvPr>
        </p:nvSpPr>
        <p:spPr/>
        <p:txBody>
          <a:bodyPr>
            <a:normAutofit fontScale="70000" lnSpcReduction="20000"/>
          </a:bodyPr>
          <a:lstStyle/>
          <a:p>
            <a:pPr marL="0" indent="0">
              <a:buNone/>
            </a:pPr>
            <a:r>
              <a:rPr lang="en-US" b="1" dirty="0"/>
              <a:t>1. Price Prediction &amp; Market Analysis</a:t>
            </a:r>
          </a:p>
          <a:p>
            <a:r>
              <a:rPr lang="en-US" dirty="0"/>
              <a:t>Fusion-based machine learning model predicts future Anthurium prices</a:t>
            </a:r>
          </a:p>
          <a:p>
            <a:r>
              <a:rPr lang="en-US" dirty="0"/>
              <a:t>Evaluates market volatility and sustainability</a:t>
            </a:r>
          </a:p>
          <a:p>
            <a:r>
              <a:rPr lang="en-US" dirty="0"/>
              <a:t>Provides sell / hold recommendations</a:t>
            </a:r>
          </a:p>
          <a:p>
            <a:pPr marL="0" indent="0">
              <a:buNone/>
            </a:pPr>
            <a:r>
              <a:rPr lang="en-US" b="1" dirty="0"/>
              <a:t>2. Weather Forecast &amp; Smart Irrigation</a:t>
            </a:r>
          </a:p>
          <a:p>
            <a:r>
              <a:rPr lang="en-US" dirty="0"/>
              <a:t>Predicts upcoming weather conditions</a:t>
            </a:r>
          </a:p>
          <a:p>
            <a:r>
              <a:rPr lang="en-US" dirty="0"/>
              <a:t>Suggests optimal watering schedules and quantities</a:t>
            </a:r>
          </a:p>
          <a:p>
            <a:pPr marL="0" indent="0">
              <a:buNone/>
            </a:pPr>
            <a:r>
              <a:rPr lang="en-US" b="1" dirty="0"/>
              <a:t>3. Disease Detection &amp; Recovery Recommendation</a:t>
            </a:r>
          </a:p>
          <a:p>
            <a:r>
              <a:rPr lang="en-US" dirty="0"/>
              <a:t>AI-based leaf image analysis</a:t>
            </a:r>
          </a:p>
          <a:p>
            <a:r>
              <a:rPr lang="en-US" dirty="0"/>
              <a:t>Identifies disease type, severity, and spread</a:t>
            </a:r>
          </a:p>
          <a:p>
            <a:r>
              <a:rPr lang="en-US" dirty="0"/>
              <a:t>Provides treatment and recovery guidance</a:t>
            </a:r>
          </a:p>
          <a:p>
            <a:pPr marL="0" indent="0">
              <a:buNone/>
            </a:pPr>
            <a:r>
              <a:rPr lang="en-US" b="1" dirty="0"/>
              <a:t>4. Soil Health Monitoring</a:t>
            </a:r>
          </a:p>
          <a:p>
            <a:r>
              <a:rPr lang="en-US" dirty="0"/>
              <a:t>Evaluates soil moisture and nutrient levels</a:t>
            </a:r>
          </a:p>
          <a:p>
            <a:r>
              <a:rPr lang="en-US" dirty="0"/>
              <a:t>Generates soil health score</a:t>
            </a:r>
          </a:p>
          <a:p>
            <a:r>
              <a:rPr lang="en-US" dirty="0"/>
              <a:t>Recommends fertilizers and soil improvements</a:t>
            </a:r>
          </a:p>
          <a:p>
            <a:endParaRPr lang="en-US" dirty="0"/>
          </a:p>
        </p:txBody>
      </p:sp>
    </p:spTree>
    <p:extLst>
      <p:ext uri="{BB962C8B-B14F-4D97-AF65-F5344CB8AC3E}">
        <p14:creationId xmlns:p14="http://schemas.microsoft.com/office/powerpoint/2010/main" val="14772151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96AB56-6874-73D1-34E5-0A588270E459}"/>
              </a:ext>
            </a:extLst>
          </p:cNvPr>
          <p:cNvSpPr>
            <a:spLocks noGrp="1"/>
          </p:cNvSpPr>
          <p:nvPr>
            <p:ph idx="1"/>
          </p:nvPr>
        </p:nvSpPr>
        <p:spPr>
          <a:xfrm>
            <a:off x="304800" y="533400"/>
            <a:ext cx="11684000" cy="5791200"/>
          </a:xfrm>
        </p:spPr>
        <p:txBody>
          <a:bodyPr>
            <a:normAutofit/>
          </a:bodyPr>
          <a:lstStyle/>
          <a:p>
            <a:pPr marL="0" indent="0">
              <a:buNone/>
            </a:pPr>
            <a:r>
              <a:rPr lang="en-US" sz="2800" b="1" u="sng" dirty="0"/>
              <a:t>Non-Functional Focus</a:t>
            </a:r>
          </a:p>
          <a:p>
            <a:pPr marL="0" indent="0">
              <a:buNone/>
            </a:pPr>
            <a:r>
              <a:rPr lang="en-US" sz="2800" dirty="0"/>
              <a:t>The system emphasizes:</a:t>
            </a:r>
          </a:p>
          <a:p>
            <a:r>
              <a:rPr lang="en-US" sz="2800" dirty="0"/>
              <a:t>Prediction accuracy</a:t>
            </a:r>
          </a:p>
          <a:p>
            <a:r>
              <a:rPr lang="en-US" sz="2800" dirty="0"/>
              <a:t>Reliability of recommendations</a:t>
            </a:r>
          </a:p>
          <a:p>
            <a:r>
              <a:rPr lang="en-US" sz="2800" dirty="0"/>
              <a:t>User-friendly interface</a:t>
            </a:r>
          </a:p>
          <a:p>
            <a:r>
              <a:rPr lang="en-US" sz="2800" dirty="0"/>
              <a:t>Scalability for smart farming environments</a:t>
            </a:r>
          </a:p>
          <a:p>
            <a:pPr marL="0" indent="0">
              <a:buNone/>
            </a:pPr>
            <a:r>
              <a:rPr lang="en-US" sz="2800" b="1" u="sng" dirty="0"/>
              <a:t>Current Status</a:t>
            </a:r>
          </a:p>
          <a:p>
            <a:r>
              <a:rPr lang="en-US" sz="2800" dirty="0"/>
              <a:t>System development progress: ~90%+ complete</a:t>
            </a:r>
          </a:p>
          <a:p>
            <a:r>
              <a:rPr lang="en-US" sz="2800" dirty="0"/>
              <a:t>All core modules implemented and integrated into a unified smart farming platform.</a:t>
            </a:r>
          </a:p>
          <a:p>
            <a:endParaRPr lang="en-US" dirty="0"/>
          </a:p>
        </p:txBody>
      </p:sp>
    </p:spTree>
    <p:extLst>
      <p:ext uri="{BB962C8B-B14F-4D97-AF65-F5344CB8AC3E}">
        <p14:creationId xmlns:p14="http://schemas.microsoft.com/office/powerpoint/2010/main" val="10700847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95B80-EEDA-0E73-4513-6DF0A01DDA19}"/>
              </a:ext>
            </a:extLst>
          </p:cNvPr>
          <p:cNvSpPr>
            <a:spLocks noGrp="1"/>
          </p:cNvSpPr>
          <p:nvPr>
            <p:ph type="title"/>
          </p:nvPr>
        </p:nvSpPr>
        <p:spPr>
          <a:xfrm>
            <a:off x="381000" y="64235"/>
            <a:ext cx="11658600" cy="545365"/>
          </a:xfrm>
        </p:spPr>
        <p:txBody>
          <a:bodyPr>
            <a:normAutofit fontScale="90000"/>
          </a:bodyPr>
          <a:lstStyle/>
          <a:p>
            <a:r>
              <a:rPr lang="en-US" dirty="0"/>
              <a:t>Diagram</a:t>
            </a:r>
          </a:p>
        </p:txBody>
      </p:sp>
      <p:pic>
        <p:nvPicPr>
          <p:cNvPr id="5" name="Content Placeholder 4">
            <a:extLst>
              <a:ext uri="{FF2B5EF4-FFF2-40B4-BE49-F238E27FC236}">
                <a16:creationId xmlns:a16="http://schemas.microsoft.com/office/drawing/2014/main" id="{DEF40E93-C262-2270-109C-A8568D9D048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90600" y="609600"/>
            <a:ext cx="10639552" cy="5715000"/>
          </a:xfrm>
          <a:prstGeom prst="rect">
            <a:avLst/>
          </a:prstGeom>
        </p:spPr>
      </p:pic>
    </p:spTree>
    <p:extLst>
      <p:ext uri="{BB962C8B-B14F-4D97-AF65-F5344CB8AC3E}">
        <p14:creationId xmlns:p14="http://schemas.microsoft.com/office/powerpoint/2010/main" val="33326186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04ACF1-AC04-794C-DA07-91274E34F945}"/>
              </a:ext>
            </a:extLst>
          </p:cNvPr>
          <p:cNvSpPr>
            <a:spLocks noGrp="1"/>
          </p:cNvSpPr>
          <p:nvPr>
            <p:ph idx="1"/>
          </p:nvPr>
        </p:nvSpPr>
        <p:spPr/>
        <p:txBody>
          <a:bodyPr/>
          <a:lstStyle/>
          <a:p>
            <a:pPr marL="0" indent="0">
              <a:buNone/>
            </a:pPr>
            <a:r>
              <a:rPr lang="en-US" dirty="0"/>
              <a:t>Need a description about the </a:t>
            </a:r>
            <a:r>
              <a:rPr lang="en-US"/>
              <a:t>diagram……….</a:t>
            </a:r>
            <a:endParaRPr lang="en-US" dirty="0"/>
          </a:p>
        </p:txBody>
      </p:sp>
    </p:spTree>
    <p:extLst>
      <p:ext uri="{BB962C8B-B14F-4D97-AF65-F5344CB8AC3E}">
        <p14:creationId xmlns:p14="http://schemas.microsoft.com/office/powerpoint/2010/main" val="4877700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340DF-9E40-251B-A0DE-459574A498D1}"/>
              </a:ext>
            </a:extLst>
          </p:cNvPr>
          <p:cNvSpPr>
            <a:spLocks noGrp="1"/>
          </p:cNvSpPr>
          <p:nvPr>
            <p:ph type="title"/>
          </p:nvPr>
        </p:nvSpPr>
        <p:spPr/>
        <p:txBody>
          <a:bodyPr/>
          <a:lstStyle/>
          <a:p>
            <a:r>
              <a:rPr lang="en-US" dirty="0"/>
              <a:t>Commercialization </a:t>
            </a:r>
          </a:p>
        </p:txBody>
      </p:sp>
      <p:sp>
        <p:nvSpPr>
          <p:cNvPr id="3" name="Content Placeholder 2">
            <a:extLst>
              <a:ext uri="{FF2B5EF4-FFF2-40B4-BE49-F238E27FC236}">
                <a16:creationId xmlns:a16="http://schemas.microsoft.com/office/drawing/2014/main" id="{79CFB455-0D38-E508-6E6B-D8D0343F005B}"/>
              </a:ext>
            </a:extLst>
          </p:cNvPr>
          <p:cNvSpPr>
            <a:spLocks noGrp="1"/>
          </p:cNvSpPr>
          <p:nvPr>
            <p:ph idx="1"/>
          </p:nvPr>
        </p:nvSpPr>
        <p:spPr/>
        <p:txBody>
          <a:bodyPr>
            <a:normAutofit fontScale="25000" lnSpcReduction="20000"/>
          </a:bodyPr>
          <a:lstStyle/>
          <a:p>
            <a:pPr marL="0" indent="0">
              <a:buNone/>
            </a:pPr>
            <a:r>
              <a:rPr lang="en-US" sz="9600" b="1" dirty="0"/>
              <a:t>Market Opportunity</a:t>
            </a:r>
          </a:p>
          <a:p>
            <a:r>
              <a:rPr lang="en-US" sz="9600" dirty="0"/>
              <a:t>The global ornamental flower industry is growing rapidly, with Anthurium being one of the most commercially valuable tropical flowers.</a:t>
            </a:r>
          </a:p>
          <a:p>
            <a:r>
              <a:rPr lang="en-US" sz="9600" dirty="0"/>
              <a:t>However, small and medium-scale farmers lack access to advanced decision-support technologies.</a:t>
            </a:r>
          </a:p>
          <a:p>
            <a:r>
              <a:rPr lang="en-US" sz="9600" dirty="0"/>
              <a:t>This creates a strong opportunity for smart farming platforms specialized for ornamental crops.</a:t>
            </a:r>
          </a:p>
          <a:p>
            <a:pPr marL="0" indent="0">
              <a:buNone/>
            </a:pPr>
            <a:endParaRPr lang="en-US" sz="9600" b="1" dirty="0"/>
          </a:p>
          <a:p>
            <a:pPr marL="0" indent="0">
              <a:buNone/>
            </a:pPr>
            <a:r>
              <a:rPr lang="en-US" sz="9600" b="1" dirty="0"/>
              <a:t>Potential Product Model</a:t>
            </a:r>
          </a:p>
          <a:p>
            <a:r>
              <a:rPr lang="en-US" sz="9600" dirty="0"/>
              <a:t>The proposed system can be commercialized as a:</a:t>
            </a:r>
          </a:p>
          <a:p>
            <a:r>
              <a:rPr lang="en-US" sz="9600" dirty="0"/>
              <a:t>Smart Agriculture Decision Support Platform</a:t>
            </a:r>
          </a:p>
          <a:p>
            <a:r>
              <a:rPr lang="en-US" sz="9600" dirty="0"/>
              <a:t>Possible delivery models include:</a:t>
            </a:r>
          </a:p>
          <a:p>
            <a:r>
              <a:rPr lang="en-US" sz="9600" dirty="0"/>
              <a:t>Subscription-based web platform for farmers</a:t>
            </a:r>
          </a:p>
          <a:p>
            <a:r>
              <a:rPr lang="en-US" sz="9600" dirty="0"/>
              <a:t>Mobile application for farm monitoring</a:t>
            </a:r>
          </a:p>
          <a:p>
            <a:r>
              <a:rPr lang="en-US" sz="9600" dirty="0"/>
              <a:t>Agricultural advisory tool for greenhouse management</a:t>
            </a:r>
          </a:p>
          <a:p>
            <a:pPr marL="0" indent="0">
              <a:buNone/>
            </a:pPr>
            <a:br>
              <a:rPr lang="en-US" sz="2400" dirty="0"/>
            </a:br>
            <a:endParaRPr lang="en-US" sz="2400" dirty="0"/>
          </a:p>
        </p:txBody>
      </p:sp>
    </p:spTree>
    <p:extLst>
      <p:ext uri="{BB962C8B-B14F-4D97-AF65-F5344CB8AC3E}">
        <p14:creationId xmlns:p14="http://schemas.microsoft.com/office/powerpoint/2010/main" val="38419872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22AA14-64A6-4CB9-9CDF-DA966DFB2824}"/>
              </a:ext>
            </a:extLst>
          </p:cNvPr>
          <p:cNvSpPr>
            <a:spLocks noGrp="1"/>
          </p:cNvSpPr>
          <p:nvPr>
            <p:ph idx="1"/>
          </p:nvPr>
        </p:nvSpPr>
        <p:spPr>
          <a:xfrm>
            <a:off x="254000" y="1066800"/>
            <a:ext cx="11684000" cy="5181600"/>
          </a:xfrm>
        </p:spPr>
        <p:txBody>
          <a:bodyPr/>
          <a:lstStyle/>
          <a:p>
            <a:endParaRPr lang="en-US" sz="2800" dirty="0"/>
          </a:p>
          <a:p>
            <a:pPr marL="0" indent="0">
              <a:buNone/>
            </a:pPr>
            <a:r>
              <a:rPr lang="en-US" sz="2800" b="1" dirty="0"/>
              <a:t>Value Proposition</a:t>
            </a:r>
          </a:p>
          <a:p>
            <a:r>
              <a:rPr lang="en-US" sz="2800" dirty="0"/>
              <a:t>The system provides multiple economic benefits:</a:t>
            </a:r>
          </a:p>
          <a:p>
            <a:r>
              <a:rPr lang="en-US" sz="2800" dirty="0"/>
              <a:t>Increased crop yield and flower quality</a:t>
            </a:r>
          </a:p>
          <a:p>
            <a:r>
              <a:rPr lang="en-US" sz="2800" dirty="0"/>
              <a:t>Reduced disease-related losses</a:t>
            </a:r>
          </a:p>
          <a:p>
            <a:r>
              <a:rPr lang="en-US" sz="2800" dirty="0"/>
              <a:t>Optimized water and fertilizer usage</a:t>
            </a:r>
          </a:p>
          <a:p>
            <a:r>
              <a:rPr lang="en-US" sz="2800" dirty="0"/>
              <a:t>Improved market timing for selling flowers</a:t>
            </a:r>
          </a:p>
          <a:p>
            <a:r>
              <a:rPr lang="en-US" sz="2800" dirty="0"/>
              <a:t>These improvements directly increase farmer profitability and sustainability.</a:t>
            </a:r>
          </a:p>
          <a:p>
            <a:pPr marL="0" indent="0">
              <a:buNone/>
            </a:pPr>
            <a:endParaRPr lang="en-US" dirty="0"/>
          </a:p>
        </p:txBody>
      </p:sp>
    </p:spTree>
    <p:extLst>
      <p:ext uri="{BB962C8B-B14F-4D97-AF65-F5344CB8AC3E}">
        <p14:creationId xmlns:p14="http://schemas.microsoft.com/office/powerpoint/2010/main" val="23491571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5E996D0-CCC4-329C-2FEA-261FEB039818}"/>
              </a:ext>
            </a:extLst>
          </p:cNvPr>
          <p:cNvGraphicFramePr>
            <a:graphicFrameLocks noGrp="1"/>
          </p:cNvGraphicFramePr>
          <p:nvPr>
            <p:ph idx="1"/>
            <p:extLst>
              <p:ext uri="{D42A27DB-BD31-4B8C-83A1-F6EECF244321}">
                <p14:modId xmlns:p14="http://schemas.microsoft.com/office/powerpoint/2010/main" val="2711647069"/>
              </p:ext>
            </p:extLst>
          </p:nvPr>
        </p:nvGraphicFramePr>
        <p:xfrm>
          <a:off x="304800" y="1143000"/>
          <a:ext cx="10210800" cy="4978400"/>
        </p:xfrm>
        <a:graphic>
          <a:graphicData uri="http://schemas.openxmlformats.org/drawingml/2006/table">
            <a:tbl>
              <a:tblPr firstRow="1" bandRow="1">
                <a:tableStyleId>{D113A9D2-9D6B-4929-AA2D-F23B5EE8CBE7}</a:tableStyleId>
              </a:tblPr>
              <a:tblGrid>
                <a:gridCol w="5105400">
                  <a:extLst>
                    <a:ext uri="{9D8B030D-6E8A-4147-A177-3AD203B41FA5}">
                      <a16:colId xmlns:a16="http://schemas.microsoft.com/office/drawing/2014/main" val="2924987143"/>
                    </a:ext>
                  </a:extLst>
                </a:gridCol>
                <a:gridCol w="5105400">
                  <a:extLst>
                    <a:ext uri="{9D8B030D-6E8A-4147-A177-3AD203B41FA5}">
                      <a16:colId xmlns:a16="http://schemas.microsoft.com/office/drawing/2014/main" val="1745735130"/>
                    </a:ext>
                  </a:extLst>
                </a:gridCol>
              </a:tblGrid>
              <a:tr h="711200">
                <a:tc>
                  <a:txBody>
                    <a:bodyPr/>
                    <a:lstStyle/>
                    <a:p>
                      <a:r>
                        <a:rPr lang="en-US" sz="2400" dirty="0">
                          <a:latin typeface="+mj-lt"/>
                        </a:rPr>
                        <a:t>Requirement</a:t>
                      </a:r>
                    </a:p>
                  </a:txBody>
                  <a:tcPr/>
                </a:tc>
                <a:tc>
                  <a:txBody>
                    <a:bodyPr/>
                    <a:lstStyle/>
                    <a:p>
                      <a:r>
                        <a:rPr lang="en-US" sz="2400" dirty="0">
                          <a:latin typeface="+mj-lt"/>
                        </a:rPr>
                        <a:t>Cost</a:t>
                      </a:r>
                    </a:p>
                  </a:txBody>
                  <a:tcPr/>
                </a:tc>
                <a:extLst>
                  <a:ext uri="{0D108BD9-81ED-4DB2-BD59-A6C34878D82A}">
                    <a16:rowId xmlns:a16="http://schemas.microsoft.com/office/drawing/2014/main" val="3893020458"/>
                  </a:ext>
                </a:extLst>
              </a:tr>
              <a:tr h="711200">
                <a:tc>
                  <a:txBody>
                    <a:bodyPr/>
                    <a:lstStyle/>
                    <a:p>
                      <a:r>
                        <a:rPr lang="en-US" sz="2400" dirty="0">
                          <a:latin typeface="+mj-lt"/>
                        </a:rPr>
                        <a:t>Travelling cost for data collection</a:t>
                      </a:r>
                    </a:p>
                  </a:txBody>
                  <a:tcPr/>
                </a:tc>
                <a:tc>
                  <a:txBody>
                    <a:bodyPr/>
                    <a:lstStyle/>
                    <a:p>
                      <a:r>
                        <a:rPr lang="en-US" sz="2400" dirty="0">
                          <a:latin typeface="+mj-lt"/>
                        </a:rPr>
                        <a:t>11,000/=</a:t>
                      </a:r>
                    </a:p>
                  </a:txBody>
                  <a:tcPr/>
                </a:tc>
                <a:extLst>
                  <a:ext uri="{0D108BD9-81ED-4DB2-BD59-A6C34878D82A}">
                    <a16:rowId xmlns:a16="http://schemas.microsoft.com/office/drawing/2014/main" val="3639702469"/>
                  </a:ext>
                </a:extLst>
              </a:tr>
              <a:tr h="711200">
                <a:tc>
                  <a:txBody>
                    <a:bodyPr/>
                    <a:lstStyle/>
                    <a:p>
                      <a:r>
                        <a:rPr lang="en-US" sz="2400" dirty="0">
                          <a:latin typeface="+mj-lt"/>
                        </a:rPr>
                        <a:t>Cost for deployment</a:t>
                      </a:r>
                    </a:p>
                  </a:txBody>
                  <a:tcPr/>
                </a:tc>
                <a:tc>
                  <a:txBody>
                    <a:bodyPr/>
                    <a:lstStyle/>
                    <a:p>
                      <a:r>
                        <a:rPr lang="en-US" sz="2400" dirty="0">
                          <a:latin typeface="+mj-lt"/>
                        </a:rPr>
                        <a:t> 8,000/=(month)</a:t>
                      </a:r>
                    </a:p>
                  </a:txBody>
                  <a:tcPr/>
                </a:tc>
                <a:extLst>
                  <a:ext uri="{0D108BD9-81ED-4DB2-BD59-A6C34878D82A}">
                    <a16:rowId xmlns:a16="http://schemas.microsoft.com/office/drawing/2014/main" val="431339906"/>
                  </a:ext>
                </a:extLst>
              </a:tr>
              <a:tr h="711200">
                <a:tc>
                  <a:txBody>
                    <a:bodyPr/>
                    <a:lstStyle/>
                    <a:p>
                      <a:r>
                        <a:rPr lang="en-US" sz="2400" dirty="0">
                          <a:latin typeface="+mj-lt"/>
                        </a:rPr>
                        <a:t>Google map API</a:t>
                      </a:r>
                    </a:p>
                  </a:txBody>
                  <a:tcPr/>
                </a:tc>
                <a:tc>
                  <a:txBody>
                    <a:bodyPr/>
                    <a:lstStyle/>
                    <a:p>
                      <a:r>
                        <a:rPr lang="en-US" sz="2400" dirty="0">
                          <a:latin typeface="+mj-lt"/>
                        </a:rPr>
                        <a:t> 3,500/=(month)</a:t>
                      </a:r>
                    </a:p>
                  </a:txBody>
                  <a:tcPr/>
                </a:tc>
                <a:extLst>
                  <a:ext uri="{0D108BD9-81ED-4DB2-BD59-A6C34878D82A}">
                    <a16:rowId xmlns:a16="http://schemas.microsoft.com/office/drawing/2014/main" val="557488714"/>
                  </a:ext>
                </a:extLst>
              </a:tr>
              <a:tr h="711200">
                <a:tc>
                  <a:txBody>
                    <a:bodyPr/>
                    <a:lstStyle/>
                    <a:p>
                      <a:r>
                        <a:rPr lang="en-US" sz="2400" dirty="0">
                          <a:latin typeface="+mj-lt"/>
                        </a:rPr>
                        <a:t>Price data set</a:t>
                      </a:r>
                    </a:p>
                  </a:txBody>
                  <a:tcPr/>
                </a:tc>
                <a:tc>
                  <a:txBody>
                    <a:bodyPr/>
                    <a:lstStyle/>
                    <a:p>
                      <a:r>
                        <a:rPr lang="en-US" sz="2400" dirty="0">
                          <a:latin typeface="+mj-lt"/>
                        </a:rPr>
                        <a:t> 5,000/=(month)</a:t>
                      </a:r>
                    </a:p>
                  </a:txBody>
                  <a:tcPr/>
                </a:tc>
                <a:extLst>
                  <a:ext uri="{0D108BD9-81ED-4DB2-BD59-A6C34878D82A}">
                    <a16:rowId xmlns:a16="http://schemas.microsoft.com/office/drawing/2014/main" val="336930351"/>
                  </a:ext>
                </a:extLst>
              </a:tr>
              <a:tr h="711200">
                <a:tc>
                  <a:txBody>
                    <a:bodyPr/>
                    <a:lstStyle/>
                    <a:p>
                      <a:r>
                        <a:rPr lang="en-US" sz="2400" dirty="0">
                          <a:latin typeface="+mj-lt"/>
                        </a:rPr>
                        <a:t>Weather data set</a:t>
                      </a:r>
                    </a:p>
                  </a:txBody>
                  <a:tcPr/>
                </a:tc>
                <a:tc>
                  <a:txBody>
                    <a:bodyPr/>
                    <a:lstStyle/>
                    <a:p>
                      <a:r>
                        <a:rPr lang="en-US" sz="2400" dirty="0">
                          <a:latin typeface="+mj-lt"/>
                        </a:rPr>
                        <a:t> 5,000/=(month)</a:t>
                      </a:r>
                    </a:p>
                  </a:txBody>
                  <a:tcPr/>
                </a:tc>
                <a:extLst>
                  <a:ext uri="{0D108BD9-81ED-4DB2-BD59-A6C34878D82A}">
                    <a16:rowId xmlns:a16="http://schemas.microsoft.com/office/drawing/2014/main" val="1425451526"/>
                  </a:ext>
                </a:extLst>
              </a:tr>
              <a:tr h="711200">
                <a:tc>
                  <a:txBody>
                    <a:bodyPr/>
                    <a:lstStyle/>
                    <a:p>
                      <a:r>
                        <a:rPr lang="en-US" sz="2400" dirty="0">
                          <a:latin typeface="+mj-lt"/>
                        </a:rPr>
                        <a:t>Total </a:t>
                      </a:r>
                    </a:p>
                  </a:txBody>
                  <a:tcPr/>
                </a:tc>
                <a:tc>
                  <a:txBody>
                    <a:bodyPr/>
                    <a:lstStyle/>
                    <a:p>
                      <a:r>
                        <a:rPr lang="en-US" sz="2400" dirty="0">
                          <a:latin typeface="+mj-lt"/>
                        </a:rPr>
                        <a:t>32,500/=</a:t>
                      </a:r>
                    </a:p>
                  </a:txBody>
                  <a:tcPr/>
                </a:tc>
                <a:extLst>
                  <a:ext uri="{0D108BD9-81ED-4DB2-BD59-A6C34878D82A}">
                    <a16:rowId xmlns:a16="http://schemas.microsoft.com/office/drawing/2014/main" val="1459133919"/>
                  </a:ext>
                </a:extLst>
              </a:tr>
            </a:tbl>
          </a:graphicData>
        </a:graphic>
      </p:graphicFrame>
      <p:sp>
        <p:nvSpPr>
          <p:cNvPr id="5" name="TextBox 4">
            <a:extLst>
              <a:ext uri="{FF2B5EF4-FFF2-40B4-BE49-F238E27FC236}">
                <a16:creationId xmlns:a16="http://schemas.microsoft.com/office/drawing/2014/main" id="{D2D13458-00B4-3ABB-3251-9976198685AE}"/>
              </a:ext>
            </a:extLst>
          </p:cNvPr>
          <p:cNvSpPr txBox="1"/>
          <p:nvPr/>
        </p:nvSpPr>
        <p:spPr>
          <a:xfrm>
            <a:off x="4343400" y="368405"/>
            <a:ext cx="1752600" cy="584775"/>
          </a:xfrm>
          <a:prstGeom prst="rect">
            <a:avLst/>
          </a:prstGeom>
          <a:noFill/>
        </p:spPr>
        <p:txBody>
          <a:bodyPr wrap="square" rtlCol="0">
            <a:spAutoFit/>
          </a:bodyPr>
          <a:lstStyle/>
          <a:p>
            <a:r>
              <a:rPr lang="en-US" sz="3200" b="1" u="sng" dirty="0"/>
              <a:t>Budget</a:t>
            </a:r>
            <a:r>
              <a:rPr lang="en-US" dirty="0"/>
              <a:t> </a:t>
            </a:r>
          </a:p>
        </p:txBody>
      </p:sp>
    </p:spTree>
    <p:extLst>
      <p:ext uri="{BB962C8B-B14F-4D97-AF65-F5344CB8AC3E}">
        <p14:creationId xmlns:p14="http://schemas.microsoft.com/office/powerpoint/2010/main" val="17471480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F2105-5952-DC49-0AB8-8C9D989CEC2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48767CA-52AE-C4ED-9460-5C9FB5BB200A}"/>
              </a:ext>
            </a:extLst>
          </p:cNvPr>
          <p:cNvSpPr txBox="1"/>
          <p:nvPr/>
        </p:nvSpPr>
        <p:spPr>
          <a:xfrm>
            <a:off x="4876800" y="1981200"/>
            <a:ext cx="2590800" cy="584775"/>
          </a:xfrm>
          <a:prstGeom prst="rect">
            <a:avLst/>
          </a:prstGeom>
          <a:noFill/>
        </p:spPr>
        <p:txBody>
          <a:bodyPr wrap="square" rtlCol="0">
            <a:spAutoFit/>
          </a:bodyPr>
          <a:lstStyle/>
          <a:p>
            <a:r>
              <a:rPr lang="en-US" sz="3200" dirty="0"/>
              <a:t>Thank you!</a:t>
            </a:r>
          </a:p>
        </p:txBody>
      </p:sp>
    </p:spTree>
    <p:extLst>
      <p:ext uri="{BB962C8B-B14F-4D97-AF65-F5344CB8AC3E}">
        <p14:creationId xmlns:p14="http://schemas.microsoft.com/office/powerpoint/2010/main" val="1841459451"/>
      </p:ext>
    </p:extLst>
  </p:cSld>
  <p:clrMapOvr>
    <a:masterClrMapping/>
  </p:clrMapOvr>
</p:sld>
</file>

<file path=ppt/theme/theme1.xml><?xml version="1.0" encoding="utf-8"?>
<a:theme xmlns:a="http://schemas.openxmlformats.org/drawingml/2006/main" name="Office Theme">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Apothecary">
      <a:fillStyleLst>
        <a:solidFill>
          <a:schemeClr val="phClr"/>
        </a:solidFill>
        <a:gradFill rotWithShape="1">
          <a:gsLst>
            <a:gs pos="0">
              <a:schemeClr val="phClr">
                <a:tint val="1000"/>
                <a:satMod val="100000"/>
              </a:schemeClr>
            </a:gs>
            <a:gs pos="68000">
              <a:schemeClr val="phClr">
                <a:tint val="77000"/>
                <a:satMod val="100000"/>
              </a:schemeClr>
            </a:gs>
            <a:gs pos="81000">
              <a:schemeClr val="phClr">
                <a:tint val="79000"/>
                <a:satMod val="100000"/>
              </a:schemeClr>
            </a:gs>
            <a:gs pos="86000">
              <a:schemeClr val="phClr">
                <a:tint val="73000"/>
                <a:satMod val="100000"/>
              </a:schemeClr>
            </a:gs>
            <a:gs pos="100000">
              <a:schemeClr val="phClr">
                <a:tint val="35000"/>
                <a:satMod val="100000"/>
              </a:schemeClr>
            </a:gs>
          </a:gsLst>
          <a:lin ang="5400000" scaled="0"/>
        </a:gradFill>
        <a:gradFill rotWithShape="1">
          <a:gsLst>
            <a:gs pos="0">
              <a:schemeClr val="phClr">
                <a:tint val="73000"/>
                <a:shade val="100000"/>
                <a:satMod val="150000"/>
              </a:schemeClr>
            </a:gs>
            <a:gs pos="25000">
              <a:schemeClr val="phClr">
                <a:tint val="96000"/>
                <a:shade val="80000"/>
                <a:satMod val="105000"/>
              </a:schemeClr>
            </a:gs>
            <a:gs pos="38000">
              <a:schemeClr val="phClr">
                <a:tint val="96000"/>
                <a:shade val="59000"/>
                <a:satMod val="120000"/>
              </a:schemeClr>
            </a:gs>
            <a:gs pos="55000">
              <a:schemeClr val="phClr">
                <a:tint val="100000"/>
                <a:shade val="57000"/>
                <a:satMod val="120000"/>
              </a:schemeClr>
            </a:gs>
            <a:gs pos="80000">
              <a:schemeClr val="phClr">
                <a:tint val="100000"/>
                <a:shade val="56000"/>
                <a:satMod val="145000"/>
              </a:schemeClr>
            </a:gs>
            <a:gs pos="88000">
              <a:schemeClr val="phClr">
                <a:tint val="100000"/>
                <a:shade val="63000"/>
                <a:satMod val="160000"/>
              </a:schemeClr>
            </a:gs>
            <a:gs pos="100000">
              <a:schemeClr val="phClr">
                <a:tint val="99000"/>
                <a:shade val="100000"/>
                <a:satMod val="155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scene3d>
            <a:camera prst="orthographicFront">
              <a:rot lat="0" lon="0" rev="0"/>
            </a:camera>
            <a:lightRig rig="glow" dir="tl">
              <a:rot lat="0" lon="0" rev="1800000"/>
            </a:lightRig>
          </a:scene3d>
          <a:sp3d contourW="10160" prstMaterial="dkEdge">
            <a:bevelT w="0" h="0" prst="angle"/>
            <a:contourClr>
              <a:schemeClr val="phClr">
                <a:shade val="30000"/>
                <a:satMod val="150000"/>
              </a:schemeClr>
            </a:contourClr>
          </a:sp3d>
        </a:effectStyle>
        <a:effectStyle>
          <a:effectLst>
            <a:glow rad="50800">
              <a:schemeClr val="phClr">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phClr">
                <a:shade val="30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D08376A6-FCE2-4A8E-BFFF-11B69BD93976}" vid="{0A5F165D-9E14-4628-BA29-A51D7051FDC3}"/>
    </a:ext>
  </a:extLst>
</a:theme>
</file>

<file path=ppt/theme/theme2.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44e3cf94-19c9-4e32-96c3-14f5bf01391a}" enabled="0" method="" siteId="{44e3cf94-19c9-4e32-96c3-14f5bf01391a}" removed="1"/>
</clbl:labelList>
</file>

<file path=docProps/app.xml><?xml version="1.0" encoding="utf-8"?>
<Properties xmlns="http://schemas.openxmlformats.org/officeDocument/2006/extended-properties" xmlns:vt="http://schemas.openxmlformats.org/officeDocument/2006/docPropsVTypes">
  <Template>Proposal prsentation stuct (1)</Template>
  <TotalTime>8200</TotalTime>
  <Words>895</Words>
  <Application>Microsoft Office PowerPoint</Application>
  <PresentationFormat>Widescreen</PresentationFormat>
  <Paragraphs>115</Paragraphs>
  <Slides>24</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24</vt:i4>
      </vt:variant>
    </vt:vector>
  </HeadingPairs>
  <TitlesOfParts>
    <vt:vector size="33" baseType="lpstr">
      <vt:lpstr>Adobe Devanagari</vt:lpstr>
      <vt:lpstr>Arial</vt:lpstr>
      <vt:lpstr>Calibri</vt:lpstr>
      <vt:lpstr>Cambria</vt:lpstr>
      <vt:lpstr>Century Gothic</vt:lpstr>
      <vt:lpstr>Wingdings</vt:lpstr>
      <vt:lpstr>Wingdings 3</vt:lpstr>
      <vt:lpstr>Office Theme</vt:lpstr>
      <vt:lpstr>Wisp</vt:lpstr>
      <vt:lpstr>PowerPoint Presentation</vt:lpstr>
      <vt:lpstr>PowerPoint Presentation</vt:lpstr>
      <vt:lpstr>Context and Domain</vt:lpstr>
      <vt:lpstr>Stakeholders</vt:lpstr>
      <vt:lpstr>Observed Issue </vt:lpstr>
      <vt:lpstr>Why It Matters </vt:lpstr>
      <vt:lpstr>Research Gap</vt:lpstr>
      <vt:lpstr>PowerPoint Presentation</vt:lpstr>
      <vt:lpstr>PowerPoint Presentation</vt:lpstr>
      <vt:lpstr>PowerPoint Presentation</vt:lpstr>
      <vt:lpstr>PowerPoint Presentation</vt:lpstr>
      <vt:lpstr>Pramudi </vt:lpstr>
      <vt:lpstr>PowerPoint Presentation</vt:lpstr>
      <vt:lpstr>Semi </vt:lpstr>
      <vt:lpstr>PowerPoint Presentation</vt:lpstr>
      <vt:lpstr>Solution Summary</vt:lpstr>
      <vt:lpstr>Core Modules Implemented </vt:lpstr>
      <vt:lpstr>PowerPoint Presentation</vt:lpstr>
      <vt:lpstr>Diagram</vt:lpstr>
      <vt:lpstr>PowerPoint Presentation</vt:lpstr>
      <vt:lpstr>Commercialization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Koliya Pulasinghe</dc:creator>
  <cp:lastModifiedBy>PEIRIS W V D it22117564</cp:lastModifiedBy>
  <cp:revision>30</cp:revision>
  <dcterms:created xsi:type="dcterms:W3CDTF">2025-08-25T09:34:25Z</dcterms:created>
  <dcterms:modified xsi:type="dcterms:W3CDTF">2026-03-09T12:03:12Z</dcterms:modified>
</cp:coreProperties>
</file>